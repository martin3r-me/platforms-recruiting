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SCHRITT 1</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Teilnehmer auswählen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01</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1. </a:t>
            </a:r>
            <a:r>
              <a:rPr sz="1700" b="1">
                <a:solidFill>
                  <a:srgbClr val="111111"/>
                </a:solidFill>
                <a:latin typeface="Calibri"/>
              </a:rPr>
              <a:t>Schulungstermine</a:t>
            </a:r>
            <a:r>
              <a:rPr sz="1700" b="0">
                <a:solidFill>
                  <a:srgbClr val="111111"/>
                </a:solidFill>
                <a:latin typeface="Calibri"/>
              </a:rPr>
              <a:t> öffnen und den Termin anklicken, aus dem ihr verschieben wollt (Schulung A).</a:t>
            </a:r>
          </a:p>
          <a:p>
            <a:pPr algn="l">
              <a:spcAft>
                <a:spcPts val="1019"/>
              </a:spcAft>
            </a:pPr>
            <a:r>
              <a:rPr sz="1700" b="0">
                <a:solidFill>
                  <a:srgbClr val="111111"/>
                </a:solidFill>
                <a:latin typeface="Calibri"/>
              </a:rPr>
              <a:t>2. In der Teilnehmerliste die Personen </a:t>
            </a:r>
            <a:r>
              <a:rPr sz="1700" b="1">
                <a:solidFill>
                  <a:srgbClr val="111111"/>
                </a:solidFill>
                <a:latin typeface="Calibri"/>
              </a:rPr>
              <a:t>anhaken</a:t>
            </a:r>
            <a:r>
              <a:rPr sz="1700" b="0">
                <a:solidFill>
                  <a:srgbClr val="111111"/>
                </a:solidFill>
                <a:latin typeface="Calibri"/>
              </a:rPr>
              <a:t>. Das Kästchen oben in der Kopfzeile wählt alle verschiebbaren auf einmal.</a:t>
            </a:r>
          </a:p>
          <a:p>
            <a:pPr algn="l">
              <a:spcAft>
                <a:spcPts val="1019"/>
              </a:spcAft>
            </a:pPr>
            <a:r>
              <a:rPr sz="1700" b="0">
                <a:solidFill>
                  <a:srgbClr val="111111"/>
                </a:solidFill>
                <a:latin typeface="Calibri"/>
              </a:rPr>
              <a:t>3. Oben erscheint der blaue Balken „N ausgewählt“. Dort auf </a:t>
            </a:r>
            <a:r>
              <a:rPr sz="1700" b="1">
                <a:solidFill>
                  <a:srgbClr val="111111"/>
                </a:solidFill>
                <a:latin typeface="Calibri"/>
              </a:rPr>
              <a:t>„Verschieben nach…“</a:t>
            </a:r>
            <a:r>
              <a:rPr sz="1700" b="0">
                <a:solidFill>
                  <a:srgbClr val="111111"/>
                </a:solidFill>
                <a:latin typeface="Calibri"/>
              </a:rPr>
              <a:t> klicken.</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Geht vor, während und nach der Schulung.</a:t>
            </a:r>
          </a:p>
        </p:txBody>
      </p:sp>
      <p:pic>
        <p:nvPicPr>
          <p:cNvPr id="10" name="Picture 9" descr="A_liste_angehakt.png"/>
          <p:cNvPicPr>
            <a:picLocks noChangeAspect="1"/>
          </p:cNvPicPr>
          <p:nvPr/>
        </p:nvPicPr>
        <p:blipFill>
          <a:blip r:embed="rId2"/>
          <a:stretch>
            <a:fillRect/>
          </a:stretch>
        </p:blipFill>
        <p:spPr>
          <a:xfrm>
            <a:off x="4160520" y="2338656"/>
            <a:ext cx="7360920" cy="3277966"/>
          </a:xfrm>
          <a:prstGeom prst="rect">
            <a:avLst/>
          </a:prstGeom>
          <a:ln w="9525">
            <a:solidFill>
              <a:srgbClr val="B8BCC4"/>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SCHRITT 2</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Zieltermin wählen und verschieben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02</a:t>
            </a:r>
          </a:p>
        </p:txBody>
      </p:sp>
      <p:sp>
        <p:nvSpPr>
          <p:cNvPr id="8" name="TextBox 7"/>
          <p:cNvSpPr txBox="1"/>
          <p:nvPr/>
        </p:nvSpPr>
        <p:spPr>
          <a:xfrm>
            <a:off x="685800" y="1773936"/>
            <a:ext cx="3291840" cy="3657600"/>
          </a:xfrm>
          <a:prstGeom prst="rect">
            <a:avLst/>
          </a:prstGeom>
          <a:noFill/>
        </p:spPr>
        <p:txBody>
          <a:bodyPr wrap="square" anchor="t" lIns="45720" rIns="45720">
            <a:spAutoFit/>
          </a:bodyPr>
          <a:lstStyle/>
          <a:p>
            <a:pPr algn="l">
              <a:spcAft>
                <a:spcPts val="1019"/>
              </a:spcAft>
            </a:pPr>
            <a:r>
              <a:rPr sz="1700" b="0">
                <a:solidFill>
                  <a:srgbClr val="111111"/>
                </a:solidFill>
                <a:latin typeface="Calibri"/>
              </a:rPr>
              <a:t>4. Im Fenster den </a:t>
            </a:r>
            <a:r>
              <a:rPr sz="1700" b="1">
                <a:solidFill>
                  <a:srgbClr val="111111"/>
                </a:solidFill>
                <a:latin typeface="Calibri"/>
              </a:rPr>
              <a:t>Zieltermin</a:t>
            </a:r>
            <a:r>
              <a:rPr sz="1700" b="0">
                <a:solidFill>
                  <a:srgbClr val="111111"/>
                </a:solidFill>
                <a:latin typeface="Calibri"/>
              </a:rPr>
              <a:t> wählen (Schulung B). Hinter jedem Termin steht, wie viele Plätze noch frei sind.</a:t>
            </a:r>
          </a:p>
          <a:p>
            <a:pPr algn="l">
              <a:spcAft>
                <a:spcPts val="1019"/>
              </a:spcAft>
            </a:pPr>
            <a:r>
              <a:rPr sz="1700" b="0">
                <a:solidFill>
                  <a:srgbClr val="111111"/>
                </a:solidFill>
                <a:latin typeface="Calibri"/>
              </a:rPr>
              <a:t>5. Optional einen </a:t>
            </a:r>
            <a:r>
              <a:rPr sz="1700" b="1">
                <a:solidFill>
                  <a:srgbClr val="111111"/>
                </a:solidFill>
                <a:latin typeface="Calibri"/>
              </a:rPr>
              <a:t>Kommentar</a:t>
            </a:r>
            <a:r>
              <a:rPr sz="1700" b="0">
                <a:solidFill>
                  <a:srgbClr val="111111"/>
                </a:solidFill>
                <a:latin typeface="Calibri"/>
              </a:rPr>
              <a:t> eintragen, z. B. „Logistik-Gruppe“. Er steht später im Verlauf des Bewerbers.</a:t>
            </a:r>
          </a:p>
          <a:p>
            <a:pPr algn="l">
              <a:spcAft>
                <a:spcPts val="1019"/>
              </a:spcAft>
            </a:pPr>
            <a:r>
              <a:rPr sz="1700" b="0">
                <a:solidFill>
                  <a:srgbClr val="111111"/>
                </a:solidFill>
                <a:latin typeface="Calibri"/>
              </a:rPr>
              <a:t>6. Auf </a:t>
            </a:r>
            <a:r>
              <a:rPr sz="1700" b="1">
                <a:solidFill>
                  <a:srgbClr val="111111"/>
                </a:solidFill>
                <a:latin typeface="Calibri"/>
              </a:rPr>
              <a:t>„Verschieben“</a:t>
            </a:r>
            <a:r>
              <a:rPr sz="1700" b="0">
                <a:solidFill>
                  <a:srgbClr val="111111"/>
                </a:solidFill>
                <a:latin typeface="Calibri"/>
              </a:rPr>
              <a:t> klicken. Fertig.</a:t>
            </a:r>
          </a:p>
        </p:txBody>
      </p:sp>
      <p:sp>
        <p:nvSpPr>
          <p:cNvPr id="9" name="TextBox 8"/>
          <p:cNvSpPr txBox="1"/>
          <p:nvPr/>
        </p:nvSpPr>
        <p:spPr>
          <a:xfrm>
            <a:off x="685800" y="5257800"/>
            <a:ext cx="3291840" cy="100584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Status, Bestätigung und Notizen bleiben. Wer schon erinnert wurde, bekommt keine zweite Erinnerung. Es geht keine Nachricht raus.</a:t>
            </a:r>
          </a:p>
        </p:txBody>
      </p:sp>
      <p:pic>
        <p:nvPicPr>
          <p:cNvPr id="10" name="Picture 9" descr="B_fenster_verschieben.png"/>
          <p:cNvPicPr>
            <a:picLocks noChangeAspect="1"/>
          </p:cNvPicPr>
          <p:nvPr/>
        </p:nvPicPr>
        <p:blipFill>
          <a:blip r:embed="rId2"/>
          <a:stretch>
            <a:fillRect/>
          </a:stretch>
        </p:blipFill>
        <p:spPr>
          <a:xfrm>
            <a:off x="4386397" y="1719072"/>
            <a:ext cx="6909164" cy="4517136"/>
          </a:xfrm>
          <a:prstGeom prst="rect">
            <a:avLst/>
          </a:prstGeom>
          <a:ln w="9525">
            <a:solidFill>
              <a:srgbClr val="B8BCC4"/>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TEILNEHMER VERSCHIEBEN · WÄHREND UND NACH DER SCHULUNG</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Erst „Teilgenommen“, dann in Gruppen aufteilen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03</a:t>
            </a:r>
          </a:p>
        </p:txBody>
      </p:sp>
      <p:sp>
        <p:nvSpPr>
          <p:cNvPr id="8" name="TextBox 7"/>
          <p:cNvSpPr txBox="1"/>
          <p:nvPr/>
        </p:nvSpPr>
        <p:spPr>
          <a:xfrm>
            <a:off x="685800" y="1746504"/>
            <a:ext cx="10789920" cy="73152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Zwischen Terminen am selben Tag könnt ihr jederzeit verschieben, auch während der Schulung und nachträglich, und auch mit Teilnehmern, die schon auf </a:t>
            </a:r>
            <a:r>
              <a:rPr sz="1800" b="1">
                <a:solidFill>
                  <a:srgbClr val="111111"/>
                </a:solidFill>
                <a:latin typeface="Calibri"/>
              </a:rPr>
              <a:t>Teilgenommen</a:t>
            </a:r>
            <a:r>
              <a:rPr sz="1800" b="0">
                <a:solidFill>
                  <a:srgbClr val="111111"/>
                </a:solidFill>
                <a:latin typeface="Calibri"/>
              </a:rPr>
              <a:t> stehen. Am besten in der großen Gruppe alle Anwesenden auf Teilgenommen setzen, danach in die Gruppen verschieben. Der Status wandert mit.</a:t>
            </a:r>
          </a:p>
        </p:txBody>
      </p:sp>
      <p:pic>
        <p:nvPicPr>
          <p:cNvPr id="9" name="Picture 8" descr="C_status_teilgenommen.png"/>
          <p:cNvPicPr>
            <a:picLocks noChangeAspect="1"/>
          </p:cNvPicPr>
          <p:nvPr/>
        </p:nvPicPr>
        <p:blipFill>
          <a:blip r:embed="rId2"/>
          <a:stretch>
            <a:fillRect/>
          </a:stretch>
        </p:blipFill>
        <p:spPr>
          <a:xfrm>
            <a:off x="685800" y="2891794"/>
            <a:ext cx="7287768" cy="3131810"/>
          </a:xfrm>
          <a:prstGeom prst="rect">
            <a:avLst/>
          </a:prstGeom>
          <a:ln w="9525">
            <a:solidFill>
              <a:srgbClr val="B8BCC4"/>
            </a:solidFill>
          </a:ln>
        </p:spPr>
      </p:pic>
      <p:sp>
        <p:nvSpPr>
          <p:cNvPr id="10" name="TextBox 9"/>
          <p:cNvSpPr txBox="1"/>
          <p:nvPr/>
        </p:nvSpPr>
        <p:spPr>
          <a:xfrm>
            <a:off x="8394192" y="2743200"/>
            <a:ext cx="3108960" cy="3657600"/>
          </a:xfrm>
          <a:prstGeom prst="rect">
            <a:avLst/>
          </a:prstGeom>
          <a:noFill/>
        </p:spPr>
        <p:txBody>
          <a:bodyPr wrap="square" anchor="t" lIns="45720" rIns="45720">
            <a:spAutoFit/>
          </a:bodyPr>
          <a:lstStyle/>
          <a:p>
            <a:pPr algn="l">
              <a:spcAft>
                <a:spcPts val="1140"/>
              </a:spcAft>
            </a:pPr>
            <a:r>
              <a:rPr sz="1900" b="1">
                <a:solidFill>
                  <a:srgbClr val="1273DE"/>
                </a:solidFill>
                <a:latin typeface="Calibri"/>
              </a:rPr>
              <a:t>Ziel: gleiche Stelle</a:t>
            </a:r>
          </a:p>
          <a:p>
            <a:pPr algn="l">
              <a:spcAft>
                <a:spcPts val="1140"/>
              </a:spcAft>
            </a:pPr>
            <a:r>
              <a:rPr sz="1900" b="1">
                <a:solidFill>
                  <a:srgbClr val="1273DE"/>
                </a:solidFill>
                <a:latin typeface="Calibri"/>
              </a:rPr>
              <a:t>Am selben Tag jederzeit, auch nachträglich</a:t>
            </a:r>
          </a:p>
          <a:p>
            <a:pPr algn="l">
              <a:spcAft>
                <a:spcPts val="1140"/>
              </a:spcAft>
            </a:pPr>
            <a:r>
              <a:rPr sz="1900" b="1">
                <a:solidFill>
                  <a:srgbClr val="1273DE"/>
                </a:solidFill>
                <a:latin typeface="Calibri"/>
              </a:rPr>
              <a:t>Teilgenommen nur am selben Tag</a:t>
            </a:r>
          </a:p>
        </p:txBody>
      </p:sp>
      <p:sp>
        <p:nvSpPr>
          <p:cNvPr id="11" name="TextBox 10"/>
          <p:cNvSpPr txBox="1"/>
          <p:nvPr/>
        </p:nvSpPr>
        <p:spPr>
          <a:xfrm>
            <a:off x="8394192" y="5257800"/>
            <a:ext cx="3108960" cy="914400"/>
          </a:xfrm>
          <a:prstGeom prst="rect">
            <a:avLst/>
          </a:prstGeom>
          <a:noFill/>
        </p:spPr>
        <p:txBody>
          <a:bodyPr wrap="square" anchor="t" lIns="45720" rIns="45720">
            <a:spAutoFit/>
          </a:bodyPr>
          <a:lstStyle/>
          <a:p>
            <a:pPr algn="l">
              <a:spcAft>
                <a:spcPts val="900"/>
              </a:spcAft>
            </a:pPr>
            <a:r>
              <a:rPr sz="1500" b="0">
                <a:solidFill>
                  <a:srgbClr val="111111"/>
                </a:solidFill>
                <a:latin typeface="Calibri"/>
              </a:rPr>
              <a:t>Im Zieltermin steht an der Person „aus …“ mit dem alten Termin.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WENN EINE SCHULUNG VOLL IST · SCHRITT 1</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Bewerber ohne Termin finden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04</a:t>
            </a:r>
          </a:p>
        </p:txBody>
      </p:sp>
      <p:sp>
        <p:nvSpPr>
          <p:cNvPr id="8" name="TextBox 7"/>
          <p:cNvSpPr txBox="1"/>
          <p:nvPr/>
        </p:nvSpPr>
        <p:spPr>
          <a:xfrm>
            <a:off x="685800" y="1600200"/>
            <a:ext cx="10789920" cy="731520"/>
          </a:xfrm>
          <a:prstGeom prst="rect">
            <a:avLst/>
          </a:prstGeom>
          <a:noFill/>
        </p:spPr>
        <p:txBody>
          <a:bodyPr wrap="square" anchor="t" lIns="45720" rIns="45720">
            <a:spAutoFit/>
          </a:bodyPr>
          <a:lstStyle/>
          <a:p>
            <a:pPr algn="l">
              <a:spcAft>
                <a:spcPts val="960"/>
              </a:spcAft>
            </a:pPr>
            <a:r>
              <a:rPr sz="1600" b="0">
                <a:solidFill>
                  <a:srgbClr val="5F6368"/>
                </a:solidFill>
                <a:latin typeface="Calibri"/>
              </a:rPr>
              <a:t>Ist eine Schulung ausgebucht, könnt ihr alle Bewerber, die noch keinen Termin haben, per WhatsApp auf die freien Termine hinweisen. Sie suchen sich dann selbst einen neuen Termin aus.</a:t>
            </a:r>
          </a:p>
        </p:txBody>
      </p:sp>
      <p:sp>
        <p:nvSpPr>
          <p:cNvPr id="9" name="TextBox 8"/>
          <p:cNvSpPr txBox="1"/>
          <p:nvPr/>
        </p:nvSpPr>
        <p:spPr>
          <a:xfrm>
            <a:off x="685800" y="2514600"/>
            <a:ext cx="5212080" cy="288036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1. Links auf </a:t>
            </a:r>
            <a:r>
              <a:rPr sz="1800" b="1">
                <a:solidFill>
                  <a:srgbClr val="111111"/>
                </a:solidFill>
                <a:latin typeface="Calibri"/>
              </a:rPr>
              <a:t>Statistik</a:t>
            </a:r>
            <a:r>
              <a:rPr sz="1800" b="0">
                <a:solidFill>
                  <a:srgbClr val="111111"/>
                </a:solidFill>
                <a:latin typeface="Calibri"/>
              </a:rPr>
              <a:t> gehen, eure Filiale auswählen und nach unten zu </a:t>
            </a:r>
            <a:r>
              <a:rPr sz="1800" b="1">
                <a:solidFill>
                  <a:srgbClr val="111111"/>
                </a:solidFill>
                <a:latin typeface="Calibri"/>
              </a:rPr>
              <a:t>„Schulungstermine“</a:t>
            </a:r>
            <a:r>
              <a:rPr sz="1800" b="0">
                <a:solidFill>
                  <a:srgbClr val="111111"/>
                </a:solidFill>
                <a:latin typeface="Calibri"/>
              </a:rPr>
              <a:t> scrollen.</a:t>
            </a:r>
          </a:p>
          <a:p>
            <a:pPr algn="l">
              <a:spcAft>
                <a:spcPts val="1080"/>
              </a:spcAft>
            </a:pPr>
            <a:r>
              <a:rPr sz="1800" b="0">
                <a:solidFill>
                  <a:srgbClr val="111111"/>
                </a:solidFill>
                <a:latin typeface="Calibri"/>
              </a:rPr>
              <a:t>2. Bei der vollen Schulung steht </a:t>
            </a:r>
            <a:r>
              <a:rPr sz="1800" b="1">
                <a:solidFill>
                  <a:srgbClr val="111111"/>
                </a:solidFill>
                <a:latin typeface="Calibri"/>
              </a:rPr>
              <a:t>„Ausgebucht“</a:t>
            </a:r>
            <a:r>
              <a:rPr sz="1800" b="0">
                <a:solidFill>
                  <a:srgbClr val="111111"/>
                </a:solidFill>
                <a:latin typeface="Calibri"/>
              </a:rPr>
              <a:t>. Daneben seht ihr, wie viele Bewerber noch keinen Termin haben, zum Beispiel </a:t>
            </a:r>
            <a:r>
              <a:rPr sz="1800" b="1">
                <a:solidFill>
                  <a:srgbClr val="111111"/>
                </a:solidFill>
                <a:latin typeface="Calibri"/>
              </a:rPr>
              <a:t>„12 ohne Termin“</a:t>
            </a:r>
            <a:r>
              <a:rPr sz="1800" b="0">
                <a:solidFill>
                  <a:srgbClr val="111111"/>
                </a:solidFill>
                <a:latin typeface="Calibri"/>
              </a:rPr>
              <a:t>. Darauf klicken.</a:t>
            </a:r>
          </a:p>
        </p:txBody>
      </p:sp>
      <p:sp>
        <p:nvSpPr>
          <p:cNvPr id="10" name="TextBox 9"/>
          <p:cNvSpPr txBox="1"/>
          <p:nvPr/>
        </p:nvSpPr>
        <p:spPr>
          <a:xfrm>
            <a:off x="6263640" y="2514600"/>
            <a:ext cx="5212080" cy="2880360"/>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3. Es öffnet sich ein Fenster. Oben steht, welche Schulung voll ist und ob es noch andere Termine mit freien Plätzen gibt. </a:t>
            </a:r>
            <a:r>
              <a:rPr sz="1800" b="1">
                <a:solidFill>
                  <a:srgbClr val="111111"/>
                </a:solidFill>
                <a:latin typeface="Calibri"/>
              </a:rPr>
              <a:t>Ist der Kasten rot, gibt es keinen freien Termin.</a:t>
            </a:r>
            <a:r>
              <a:rPr sz="1800" b="0">
                <a:solidFill>
                  <a:srgbClr val="111111"/>
                </a:solidFill>
                <a:latin typeface="Calibri"/>
              </a:rPr>
              <a:t> Dann bitte zuerst einen neuen Termin anlegen.</a:t>
            </a:r>
          </a:p>
        </p:txBody>
      </p:sp>
      <p:sp>
        <p:nvSpPr>
          <p:cNvPr id="11" name="TextBox 10"/>
          <p:cNvSpPr txBox="1"/>
          <p:nvPr/>
        </p:nvSpPr>
        <p:spPr>
          <a:xfrm>
            <a:off x="685800" y="5486400"/>
            <a:ext cx="10789920" cy="731520"/>
          </a:xfrm>
          <a:prstGeom prst="rect">
            <a:avLst/>
          </a:prstGeom>
          <a:noFill/>
        </p:spPr>
        <p:txBody>
          <a:bodyPr wrap="square" anchor="t" lIns="45720" rIns="45720">
            <a:spAutoFit/>
          </a:bodyPr>
          <a:lstStyle/>
          <a:p>
            <a:pPr algn="l">
              <a:spcAft>
                <a:spcPts val="960"/>
              </a:spcAft>
            </a:pPr>
            <a:r>
              <a:rPr sz="1600" b="0">
                <a:solidFill>
                  <a:srgbClr val="5F6368"/>
                </a:solidFill>
                <a:latin typeface="Calibri"/>
              </a:rPr>
              <a:t>„… ohne Termin“ erscheint nur, wenn die Schulung eine Platzzahl hat, komplett voll ist, noch bevorsteht und eine Ausschreibung hinterlegt 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WENN EINE SCHULUNG VOLL IST · SCHRITT 2</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Empfänger prüfen und WhatsApp senden</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05</a:t>
            </a:r>
          </a:p>
        </p:txBody>
      </p:sp>
      <p:sp>
        <p:nvSpPr>
          <p:cNvPr id="8" name="TextBox 7"/>
          <p:cNvSpPr txBox="1"/>
          <p:nvPr/>
        </p:nvSpPr>
        <p:spPr>
          <a:xfrm>
            <a:off x="685800" y="1773936"/>
            <a:ext cx="5212080" cy="3621024"/>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4. Im Fenster seht ihr alle Bewerber, die die Nachricht bekommen. Wer keine bekommen soll: einfach den </a:t>
            </a:r>
            <a:r>
              <a:rPr sz="1800" b="1">
                <a:solidFill>
                  <a:srgbClr val="111111"/>
                </a:solidFill>
                <a:latin typeface="Calibri"/>
              </a:rPr>
              <a:t>Haken entfernen</a:t>
            </a:r>
            <a:r>
              <a:rPr sz="1800" b="0">
                <a:solidFill>
                  <a:srgbClr val="111111"/>
                </a:solidFill>
                <a:latin typeface="Calibri"/>
              </a:rPr>
              <a:t>. Grau hinterlegte Personen können nicht angeschrieben werden, der Grund steht dabei.</a:t>
            </a:r>
          </a:p>
          <a:p>
            <a:pPr algn="l">
              <a:spcAft>
                <a:spcPts val="1080"/>
              </a:spcAft>
            </a:pPr>
            <a:r>
              <a:rPr sz="1800" b="0">
                <a:solidFill>
                  <a:srgbClr val="111111"/>
                </a:solidFill>
                <a:latin typeface="Calibri"/>
              </a:rPr>
              <a:t>5. Ganz unten seht ihr die Nachricht so, wie der Bewerber sie bekommt. Statt „Anna“ steht dort später der richtige Vorname.</a:t>
            </a:r>
          </a:p>
        </p:txBody>
      </p:sp>
      <p:sp>
        <p:nvSpPr>
          <p:cNvPr id="9" name="TextBox 8"/>
          <p:cNvSpPr txBox="1"/>
          <p:nvPr/>
        </p:nvSpPr>
        <p:spPr>
          <a:xfrm>
            <a:off x="6263640" y="1773936"/>
            <a:ext cx="5212080" cy="3621024"/>
          </a:xfrm>
          <a:prstGeom prst="rect">
            <a:avLst/>
          </a:prstGeom>
          <a:noFill/>
        </p:spPr>
        <p:txBody>
          <a:bodyPr wrap="square" anchor="t" lIns="45720" rIns="45720">
            <a:spAutoFit/>
          </a:bodyPr>
          <a:lstStyle/>
          <a:p>
            <a:pPr algn="l">
              <a:spcAft>
                <a:spcPts val="1080"/>
              </a:spcAft>
            </a:pPr>
            <a:r>
              <a:rPr sz="1800" b="0">
                <a:solidFill>
                  <a:srgbClr val="111111"/>
                </a:solidFill>
                <a:latin typeface="Calibri"/>
              </a:rPr>
              <a:t>6. Auf </a:t>
            </a:r>
            <a:r>
              <a:rPr sz="1800" b="1">
                <a:solidFill>
                  <a:srgbClr val="111111"/>
                </a:solidFill>
                <a:latin typeface="Calibri"/>
              </a:rPr>
              <a:t>„WhatsApp an … Personen senden“</a:t>
            </a:r>
            <a:r>
              <a:rPr sz="1800" b="0">
                <a:solidFill>
                  <a:srgbClr val="111111"/>
                </a:solidFill>
                <a:latin typeface="Calibri"/>
              </a:rPr>
              <a:t> klicken und bestätigen. Im Fenster seht ihr, wie die Nachrichten rausgehen.</a:t>
            </a:r>
          </a:p>
        </p:txBody>
      </p:sp>
      <p:sp>
        <p:nvSpPr>
          <p:cNvPr id="10" name="TextBox 9"/>
          <p:cNvSpPr txBox="1"/>
          <p:nvPr/>
        </p:nvSpPr>
        <p:spPr>
          <a:xfrm>
            <a:off x="685800" y="5486400"/>
            <a:ext cx="10789920" cy="731520"/>
          </a:xfrm>
          <a:prstGeom prst="rect">
            <a:avLst/>
          </a:prstGeom>
          <a:noFill/>
        </p:spPr>
        <p:txBody>
          <a:bodyPr wrap="square" anchor="t" lIns="45720" rIns="45720">
            <a:spAutoFit/>
          </a:bodyPr>
          <a:lstStyle/>
          <a:p>
            <a:pPr algn="l">
              <a:spcAft>
                <a:spcPts val="960"/>
              </a:spcAft>
            </a:pPr>
            <a:r>
              <a:rPr sz="1600" b="1">
                <a:solidFill>
                  <a:srgbClr val="1273DE"/>
                </a:solidFill>
                <a:latin typeface="Calibri"/>
              </a:rPr>
              <a:t>Die Bewerber buchen sich danach selbst in einen freien Termin.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GUT ZU WISSEN · TEILNEHMER VERSCHIEBEN</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Regeln auf einen Blick</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06</a:t>
            </a:r>
          </a:p>
        </p:txBody>
      </p:sp>
      <p:graphicFrame>
        <p:nvGraphicFramePr>
          <p:cNvPr id="8" name="Table 7"/>
          <p:cNvGraphicFramePr>
            <a:graphicFrameLocks noGrp="1"/>
          </p:cNvGraphicFramePr>
          <p:nvPr/>
        </p:nvGraphicFramePr>
        <p:xfrm>
          <a:off x="685800" y="1737360"/>
          <a:ext cx="10789920" cy="2194560"/>
        </p:xfrm>
        <a:graphic>
          <a:graphicData uri="http://schemas.openxmlformats.org/drawingml/2006/table">
            <a:tbl>
              <a:tblPr bandRow="1">
                <a:tableStyleId>{5C22544A-7EE6-4342-B048-85BDC9FD1C3A}</a:tableStyleId>
              </a:tblPr>
              <a:tblGrid>
                <a:gridCol w="3017520"/>
                <a:gridCol w="7772400"/>
              </a:tblGrid>
              <a:tr h="548640">
                <a:tc>
                  <a:txBody>
                    <a:bodyPr/>
                    <a:lstStyle/>
                    <a:p>
                      <a:r>
                        <a:rPr sz="1400" b="1">
                          <a:solidFill>
                            <a:srgbClr val="1273DE"/>
                          </a:solidFill>
                          <a:latin typeface="Calibri"/>
                        </a:rPr>
                        <a:t>Verschieben: welche Termine</a:t>
                      </a:r>
                    </a:p>
                  </a:txBody>
                  <a:tcPr marL="109728" marT="45720" marB="45720">
                    <a:solidFill>
                      <a:srgbClr val="F1F3F5"/>
                    </a:solidFill>
                  </a:tcPr>
                </a:tc>
                <a:tc>
                  <a:txBody>
                    <a:bodyPr/>
                    <a:lstStyle/>
                    <a:p>
                      <a:r>
                        <a:rPr sz="1400" b="0">
                          <a:solidFill>
                            <a:srgbClr val="111111"/>
                          </a:solidFill>
                          <a:latin typeface="Calibri"/>
                        </a:rPr>
                        <a:t>Nur aktive Termine derselben Stelle (gleicher Ort). Termine am selben Tag jederzeit, auch nachträglich. Termine an anderen Tagen nur, solange sie noch nicht zu Ende sind. Wer in eine andere Filiale soll, bucht über die Terminauswahl neu.</a:t>
                      </a:r>
                    </a:p>
                  </a:txBody>
                  <a:tcPr marL="109728" marT="45720" marB="45720">
                    <a:solidFill>
                      <a:srgbClr val="F1F3F5"/>
                    </a:solidFill>
                  </a:tcPr>
                </a:tc>
              </a:tr>
              <a:tr h="548640">
                <a:tc>
                  <a:txBody>
                    <a:bodyPr/>
                    <a:lstStyle/>
                    <a:p>
                      <a:r>
                        <a:rPr sz="1400" b="1">
                          <a:solidFill>
                            <a:srgbClr val="1273DE"/>
                          </a:solidFill>
                          <a:latin typeface="Calibri"/>
                        </a:rPr>
                        <a:t>Verschieben: wer</a:t>
                      </a:r>
                    </a:p>
                  </a:txBody>
                  <a:tcPr marL="109728" marT="45720" marB="45720">
                    <a:solidFill>
                      <a:srgbClr val="FFFFFF"/>
                    </a:solidFill>
                  </a:tcPr>
                </a:tc>
                <a:tc>
                  <a:txBody>
                    <a:bodyPr/>
                    <a:lstStyle/>
                    <a:p>
                      <a:r>
                        <a:rPr sz="1400" b="0">
                          <a:solidFill>
                            <a:srgbClr val="111111"/>
                          </a:solidFill>
                          <a:latin typeface="Calibri"/>
                        </a:rPr>
                        <a:t>Gebucht, registriert und bestätigt immer. Teilgenommen nur in einen Termin am selben Tag. Stornierte, nicht erschienene und vor Ort aussortierte bleiben, wo sie sind.</a:t>
                      </a:r>
                    </a:p>
                  </a:txBody>
                  <a:tcPr marL="109728" marT="45720" marB="45720">
                    <a:solidFill>
                      <a:srgbClr val="FFFFFF"/>
                    </a:solidFill>
                  </a:tcPr>
                </a:tc>
              </a:tr>
              <a:tr h="548640">
                <a:tc>
                  <a:txBody>
                    <a:bodyPr/>
                    <a:lstStyle/>
                    <a:p>
                      <a:r>
                        <a:rPr sz="1400" b="1">
                          <a:solidFill>
                            <a:srgbClr val="1273DE"/>
                          </a:solidFill>
                          <a:latin typeface="Calibri"/>
                        </a:rPr>
                        <a:t>Verschieben: Plätze</a:t>
                      </a:r>
                    </a:p>
                  </a:txBody>
                  <a:tcPr marL="109728" marT="45720" marB="45720">
                    <a:solidFill>
                      <a:srgbClr val="F1F3F5"/>
                    </a:solidFill>
                  </a:tcPr>
                </a:tc>
                <a:tc>
                  <a:txBody>
                    <a:bodyPr/>
                    <a:lstStyle/>
                    <a:p>
                      <a:r>
                        <a:rPr sz="1400" b="0">
                          <a:solidFill>
                            <a:srgbClr val="111111"/>
                          </a:solidFill>
                          <a:latin typeface="Calibri"/>
                        </a:rPr>
                        <a:t>Hat der Zieltermin eine Platzzahl, werden nur so viele verschoben, wie Plätze frei sind. Wer nicht mehr passt, bleibt in Schulung A.</a:t>
                      </a:r>
                    </a:p>
                  </a:txBody>
                  <a:tcPr marL="109728" marT="45720" marB="45720">
                    <a:solidFill>
                      <a:srgbClr val="F1F3F5"/>
                    </a:solidFill>
                  </a:tcPr>
                </a:tc>
              </a:tr>
              <a:tr h="548640">
                <a:tc>
                  <a:txBody>
                    <a:bodyPr/>
                    <a:lstStyle/>
                    <a:p>
                      <a:r>
                        <a:rPr sz="1400" b="1">
                          <a:solidFill>
                            <a:srgbClr val="1273DE"/>
                          </a:solidFill>
                          <a:latin typeface="Calibri"/>
                        </a:rPr>
                        <a:t>Verschieben: Nachricht</a:t>
                      </a:r>
                    </a:p>
                  </a:txBody>
                  <a:tcPr marL="109728" marT="45720" marB="45720">
                    <a:solidFill>
                      <a:srgbClr val="FFFFFF"/>
                    </a:solidFill>
                  </a:tcPr>
                </a:tc>
                <a:tc>
                  <a:txBody>
                    <a:bodyPr/>
                    <a:lstStyle/>
                    <a:p>
                      <a:r>
                        <a:rPr sz="1400" b="0">
                          <a:solidFill>
                            <a:srgbClr val="111111"/>
                          </a:solidFill>
                          <a:latin typeface="Calibri"/>
                        </a:rPr>
                        <a:t>Keine. Wenn die Person Bescheid wissen soll, bitte selbst anschreiben.</a:t>
                      </a:r>
                    </a:p>
                  </a:txBody>
                  <a:tcPr marL="109728" marT="45720" marB="45720">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55448" cy="6858000"/>
          </a:xfrm>
          <a:prstGeom prst="rect">
            <a:avLst/>
          </a:prstGeom>
          <a:solidFill>
            <a:srgbClr val="1273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329184"/>
            <a:ext cx="10479024" cy="274320"/>
          </a:xfrm>
          <a:prstGeom prst="rect">
            <a:avLst/>
          </a:prstGeom>
          <a:noFill/>
        </p:spPr>
        <p:txBody>
          <a:bodyPr wrap="square" anchor="t" lIns="45720" rIns="45720">
            <a:spAutoFit/>
          </a:bodyPr>
          <a:lstStyle/>
          <a:p>
            <a:pPr algn="l">
              <a:spcAft>
                <a:spcPts val="719"/>
              </a:spcAft>
            </a:pPr>
            <a:r>
              <a:rPr sz="1200" b="1">
                <a:solidFill>
                  <a:srgbClr val="1273DE"/>
                </a:solidFill>
                <a:latin typeface="Calibri"/>
              </a:rPr>
              <a:t>GUT ZU WISSEN · KAMPAGNE „SCHULUNG VOLL“</a:t>
            </a:r>
          </a:p>
        </p:txBody>
      </p:sp>
      <p:sp>
        <p:nvSpPr>
          <p:cNvPr id="4" name="TextBox 3"/>
          <p:cNvSpPr txBox="1"/>
          <p:nvPr/>
        </p:nvSpPr>
        <p:spPr>
          <a:xfrm>
            <a:off x="612648" y="731520"/>
            <a:ext cx="10936224" cy="640080"/>
          </a:xfrm>
          <a:prstGeom prst="rect">
            <a:avLst/>
          </a:prstGeom>
          <a:noFill/>
        </p:spPr>
        <p:txBody>
          <a:bodyPr wrap="square" anchor="t" lIns="45720" rIns="45720">
            <a:spAutoFit/>
          </a:bodyPr>
          <a:lstStyle/>
          <a:p>
            <a:pPr algn="l">
              <a:spcAft>
                <a:spcPts val="1709"/>
              </a:spcAft>
            </a:pPr>
            <a:r>
              <a:rPr sz="2850" b="1">
                <a:solidFill>
                  <a:srgbClr val="111111"/>
                </a:solidFill>
                <a:latin typeface="Calibri"/>
              </a:rPr>
              <a:t>Regeln auf einen Blick</a:t>
            </a:r>
          </a:p>
        </p:txBody>
      </p:sp>
      <p:sp>
        <p:nvSpPr>
          <p:cNvPr id="5" name="Rectangle 4"/>
          <p:cNvSpPr/>
          <p:nvPr/>
        </p:nvSpPr>
        <p:spPr>
          <a:xfrm>
            <a:off x="512064" y="1435608"/>
            <a:ext cx="11128248" cy="9144"/>
          </a:xfrm>
          <a:prstGeom prst="rect">
            <a:avLst/>
          </a:prstGeom>
          <a:solidFill>
            <a:srgbClr val="B8BC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6419088"/>
            <a:ext cx="6190488" cy="274320"/>
          </a:xfrm>
          <a:prstGeom prst="rect">
            <a:avLst/>
          </a:prstGeom>
          <a:noFill/>
        </p:spPr>
        <p:txBody>
          <a:bodyPr wrap="square" anchor="t" lIns="45720" rIns="45720">
            <a:spAutoFit/>
          </a:bodyPr>
          <a:lstStyle/>
          <a:p>
            <a:pPr algn="l">
              <a:spcAft>
                <a:spcPts val="630"/>
              </a:spcAft>
            </a:pPr>
            <a:r>
              <a:rPr sz="1050" b="0">
                <a:solidFill>
                  <a:srgbClr val="5F6368"/>
                </a:solidFill>
                <a:latin typeface="Calibri"/>
              </a:rPr>
              <a:t>RheinGedeck · Intern</a:t>
            </a:r>
          </a:p>
        </p:txBody>
      </p:sp>
      <p:sp>
        <p:nvSpPr>
          <p:cNvPr id="7" name="TextBox 6"/>
          <p:cNvSpPr txBox="1"/>
          <p:nvPr/>
        </p:nvSpPr>
        <p:spPr>
          <a:xfrm>
            <a:off x="11009376" y="6419088"/>
            <a:ext cx="530352" cy="274320"/>
          </a:xfrm>
          <a:prstGeom prst="rect">
            <a:avLst/>
          </a:prstGeom>
          <a:noFill/>
        </p:spPr>
        <p:txBody>
          <a:bodyPr wrap="square" anchor="t" lIns="45720" rIns="45720">
            <a:spAutoFit/>
          </a:bodyPr>
          <a:lstStyle/>
          <a:p>
            <a:pPr algn="r">
              <a:spcAft>
                <a:spcPts val="630"/>
              </a:spcAft>
            </a:pPr>
            <a:r>
              <a:rPr sz="1050" b="0">
                <a:solidFill>
                  <a:srgbClr val="5F6368"/>
                </a:solidFill>
                <a:latin typeface="Calibri"/>
              </a:rPr>
              <a:t>07</a:t>
            </a:r>
          </a:p>
        </p:txBody>
      </p:sp>
      <p:graphicFrame>
        <p:nvGraphicFramePr>
          <p:cNvPr id="8" name="Table 7"/>
          <p:cNvGraphicFramePr>
            <a:graphicFrameLocks noGrp="1"/>
          </p:cNvGraphicFramePr>
          <p:nvPr/>
        </p:nvGraphicFramePr>
        <p:xfrm>
          <a:off x="685800" y="1737360"/>
          <a:ext cx="10789920" cy="2743200"/>
        </p:xfrm>
        <a:graphic>
          <a:graphicData uri="http://schemas.openxmlformats.org/drawingml/2006/table">
            <a:tbl>
              <a:tblPr bandRow="1">
                <a:tableStyleId>{5C22544A-7EE6-4342-B048-85BDC9FD1C3A}</a:tableStyleId>
              </a:tblPr>
              <a:tblGrid>
                <a:gridCol w="3017520"/>
                <a:gridCol w="7772400"/>
              </a:tblGrid>
              <a:tr h="548640">
                <a:tc>
                  <a:txBody>
                    <a:bodyPr/>
                    <a:lstStyle/>
                    <a:p>
                      <a:r>
                        <a:rPr sz="1400" b="1">
                          <a:solidFill>
                            <a:srgbClr val="1273DE"/>
                          </a:solidFill>
                          <a:latin typeface="Calibri"/>
                        </a:rPr>
                        <a:t>Kampagne: wer bekommt sie</a:t>
                      </a:r>
                    </a:p>
                  </a:txBody>
                  <a:tcPr marL="109728" marT="45720" marB="45720">
                    <a:solidFill>
                      <a:srgbClr val="F1F3F5"/>
                    </a:solidFill>
                  </a:tcPr>
                </a:tc>
                <a:tc>
                  <a:txBody>
                    <a:bodyPr/>
                    <a:lstStyle/>
                    <a:p>
                      <a:r>
                        <a:rPr sz="1400" b="0">
                          <a:solidFill>
                            <a:srgbClr val="111111"/>
                          </a:solidFill>
                          <a:latin typeface="Calibri"/>
                        </a:rPr>
                        <a:t>Nur Bewerber, die Phase 1 abgeschlossen haben und in der Terminauswahl stehen. Wer die Bewerbung noch nicht vervollständigt hat, bleibt sichtbar, ist aber gesperrt.</a:t>
                      </a:r>
                    </a:p>
                  </a:txBody>
                  <a:tcPr marL="109728" marT="45720" marB="45720">
                    <a:solidFill>
                      <a:srgbClr val="F1F3F5"/>
                    </a:solidFill>
                  </a:tcPr>
                </a:tc>
              </a:tr>
              <a:tr h="548640">
                <a:tc>
                  <a:txBody>
                    <a:bodyPr/>
                    <a:lstStyle/>
                    <a:p>
                      <a:r>
                        <a:rPr sz="1400" b="1">
                          <a:solidFill>
                            <a:srgbClr val="1273DE"/>
                          </a:solidFill>
                          <a:latin typeface="Calibri"/>
                        </a:rPr>
                        <a:t>Kampagne: danach</a:t>
                      </a:r>
                    </a:p>
                  </a:txBody>
                  <a:tcPr marL="109728" marT="45720" marB="45720">
                    <a:solidFill>
                      <a:srgbClr val="FFFFFF"/>
                    </a:solidFill>
                  </a:tcPr>
                </a:tc>
                <a:tc>
                  <a:txBody>
                    <a:bodyPr/>
                    <a:lstStyle/>
                    <a:p>
                      <a:r>
                        <a:rPr sz="1400" b="0">
                          <a:solidFill>
                            <a:srgbClr val="111111"/>
                          </a:solidFill>
                          <a:latin typeface="Calibri"/>
                        </a:rPr>
                        <a:t>Keine automatischen Erinnerungen. Bucht die Person einen Termin, läuft alles wie gewohnt weiter: Daten vervollständigen, Bestätigung, Vertrag.</a:t>
                      </a:r>
                    </a:p>
                  </a:txBody>
                  <a:tcPr marL="109728" marT="45720" marB="45720">
                    <a:solidFill>
                      <a:srgbClr val="FFFFFF"/>
                    </a:solidFill>
                  </a:tcPr>
                </a:tc>
              </a:tr>
              <a:tr h="548640">
                <a:tc>
                  <a:txBody>
                    <a:bodyPr/>
                    <a:lstStyle/>
                    <a:p>
                      <a:r>
                        <a:rPr sz="1400" b="1">
                          <a:solidFill>
                            <a:srgbClr val="1273DE"/>
                          </a:solidFill>
                          <a:latin typeface="Calibri"/>
                        </a:rPr>
                        <a:t>Kampagne: doppelt</a:t>
                      </a:r>
                    </a:p>
                  </a:txBody>
                  <a:tcPr marL="109728" marT="45720" marB="45720">
                    <a:solidFill>
                      <a:srgbClr val="F1F3F5"/>
                    </a:solidFill>
                  </a:tcPr>
                </a:tc>
                <a:tc>
                  <a:txBody>
                    <a:bodyPr/>
                    <a:lstStyle/>
                    <a:p>
                      <a:r>
                        <a:rPr sz="1400" b="0">
                          <a:solidFill>
                            <a:srgbClr val="111111"/>
                          </a:solidFill>
                          <a:latin typeface="Calibri"/>
                        </a:rPr>
                        <a:t>Wer in den letzten 14 Tagen schon eine Kampagne bekam, ist vorsichtshalber abgehakt (Badge „angeschrieben am …“). Haken setzen geht trotzdem.</a:t>
                      </a:r>
                    </a:p>
                  </a:txBody>
                  <a:tcPr marL="109728" marT="45720" marB="45720">
                    <a:solidFill>
                      <a:srgbClr val="F1F3F5"/>
                    </a:solidFill>
                  </a:tcPr>
                </a:tc>
              </a:tr>
              <a:tr h="548640">
                <a:tc>
                  <a:txBody>
                    <a:bodyPr/>
                    <a:lstStyle/>
                    <a:p>
                      <a:r>
                        <a:rPr sz="1400" b="1">
                          <a:solidFill>
                            <a:srgbClr val="1273DE"/>
                          </a:solidFill>
                          <a:latin typeface="Calibri"/>
                        </a:rPr>
                        <a:t>Kampagne: Ausschreibungswechsel</a:t>
                      </a:r>
                    </a:p>
                  </a:txBody>
                  <a:tcPr marL="109728" marT="45720" marB="45720">
                    <a:solidFill>
                      <a:srgbClr val="FFFFFF"/>
                    </a:solidFill>
                  </a:tcPr>
                </a:tc>
                <a:tc>
                  <a:txBody>
                    <a:bodyPr/>
                    <a:lstStyle/>
                    <a:p>
                      <a:r>
                        <a:rPr sz="1400" b="0">
                          <a:solidFill>
                            <a:srgbClr val="111111"/>
                          </a:solidFill>
                          <a:latin typeface="Calibri"/>
                        </a:rPr>
                        <a:t>Bucht jemand am selben Ort eine Schulung einer anderen Ausschreibung, bleibt er in seiner Ausschreibung. In der Statistik seht ihr ihn beim neuen Termin unter „Herkunft“.</a:t>
                      </a:r>
                    </a:p>
                  </a:txBody>
                  <a:tcPr marL="109728" marT="45720" marB="45720">
                    <a:solidFill>
                      <a:srgbClr val="FFFFFF"/>
                    </a:solidFill>
                  </a:tcPr>
                </a:tc>
              </a:tr>
              <a:tr h="548640">
                <a:tc>
                  <a:txBody>
                    <a:bodyPr/>
                    <a:lstStyle/>
                    <a:p>
                      <a:r>
                        <a:rPr sz="1400" b="1">
                          <a:solidFill>
                            <a:srgbClr val="1273DE"/>
                          </a:solidFill>
                          <a:latin typeface="Calibri"/>
                        </a:rPr>
                        <a:t>Vorlage pflegen</a:t>
                      </a:r>
                    </a:p>
                  </a:txBody>
                  <a:tcPr marL="109728" marT="45720" marB="45720">
                    <a:solidFill>
                      <a:srgbClr val="F1F3F5"/>
                    </a:solidFill>
                  </a:tcPr>
                </a:tc>
                <a:tc>
                  <a:txBody>
                    <a:bodyPr/>
                    <a:lstStyle/>
                    <a:p>
                      <a:r>
                        <a:rPr sz="1400" b="0">
                          <a:solidFill>
                            <a:srgbClr val="111111"/>
                          </a:solidFill>
                          <a:latin typeface="Calibri"/>
                        </a:rPr>
                        <a:t>Bewerberliste → Einstellungen → „WhatsApp Template — Schulung voll, freie Termine“. Ohne Auswahl greift die normale Terminauswahl-Vorlage.</a:t>
                      </a:r>
                    </a:p>
                  </a:txBody>
                  <a:tcPr marL="109728" marT="45720" marB="45720">
                    <a:solidFill>
                      <a:srgbClr val="F1F3F5"/>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