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SCHRITT 1</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Teilnehmer auswählen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01</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1. </a:t>
            </a:r>
            <a:r>
              <a:rPr sz="1700" b="1">
                <a:solidFill>
                  <a:srgbClr val="111111"/>
                </a:solidFill>
                <a:latin typeface="Calibri"/>
              </a:rPr>
              <a:t>Schulungstermine</a:t>
            </a:r>
            <a:r>
              <a:rPr sz="1700" b="0">
                <a:solidFill>
                  <a:srgbClr val="111111"/>
                </a:solidFill>
                <a:latin typeface="Calibri"/>
              </a:rPr>
              <a:t> öffnen und den Termin anklicken, aus dem ihr verschieben wollt (Schulung A).</a:t>
            </a:r>
          </a:p>
          <a:p>
            <a:pPr algn="l">
              <a:spcAft>
                <a:spcPts val="1019"/>
              </a:spcAft>
            </a:pPr>
            <a:r>
              <a:rPr sz="1700" b="0">
                <a:solidFill>
                  <a:srgbClr val="111111"/>
                </a:solidFill>
                <a:latin typeface="Calibri"/>
              </a:rPr>
              <a:t>2. In der Teilnehmerliste die Personen </a:t>
            </a:r>
            <a:r>
              <a:rPr sz="1700" b="1">
                <a:solidFill>
                  <a:srgbClr val="111111"/>
                </a:solidFill>
                <a:latin typeface="Calibri"/>
              </a:rPr>
              <a:t>anhaken</a:t>
            </a:r>
            <a:r>
              <a:rPr sz="1700" b="0">
                <a:solidFill>
                  <a:srgbClr val="111111"/>
                </a:solidFill>
                <a:latin typeface="Calibri"/>
              </a:rPr>
              <a:t>. Das Kästchen oben in der Kopfzeile wählt alle verschiebbaren auf einmal.</a:t>
            </a:r>
          </a:p>
          <a:p>
            <a:pPr algn="l">
              <a:spcAft>
                <a:spcPts val="1019"/>
              </a:spcAft>
            </a:pPr>
            <a:r>
              <a:rPr sz="1700" b="0">
                <a:solidFill>
                  <a:srgbClr val="111111"/>
                </a:solidFill>
                <a:latin typeface="Calibri"/>
              </a:rPr>
              <a:t>3. Oben erscheint der blaue Balken „N ausgewählt“. Dort auf </a:t>
            </a:r>
            <a:r>
              <a:rPr sz="1700" b="1">
                <a:solidFill>
                  <a:srgbClr val="111111"/>
                </a:solidFill>
                <a:latin typeface="Calibri"/>
              </a:rPr>
              <a:t>„Verschieben nach…“</a:t>
            </a:r>
            <a:r>
              <a:rPr sz="1700" b="0">
                <a:solidFill>
                  <a:srgbClr val="111111"/>
                </a:solidFill>
                <a:latin typeface="Calibri"/>
              </a:rPr>
              <a:t> klicken.</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Geht vorher und auch während der Schulung.</a:t>
            </a:r>
          </a:p>
        </p:txBody>
      </p:sp>
      <p:pic>
        <p:nvPicPr>
          <p:cNvPr id="10" name="Picture 9" descr="A_liste_angehakt.png"/>
          <p:cNvPicPr>
            <a:picLocks noChangeAspect="1"/>
          </p:cNvPicPr>
          <p:nvPr/>
        </p:nvPicPr>
        <p:blipFill>
          <a:blip r:embed="rId2"/>
          <a:stretch>
            <a:fillRect/>
          </a:stretch>
        </p:blipFill>
        <p:spPr>
          <a:xfrm>
            <a:off x="4160520" y="2338656"/>
            <a:ext cx="7360920" cy="3277966"/>
          </a:xfrm>
          <a:prstGeom prst="rect">
            <a:avLst/>
          </a:prstGeom>
          <a:ln w="9525">
            <a:solidFill>
              <a:srgbClr val="B8BCC4"/>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SCHRITT 2</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Zieltermin wählen und verschieben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02</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4. Im Fenster den </a:t>
            </a:r>
            <a:r>
              <a:rPr sz="1700" b="1">
                <a:solidFill>
                  <a:srgbClr val="111111"/>
                </a:solidFill>
                <a:latin typeface="Calibri"/>
              </a:rPr>
              <a:t>Zieltermin</a:t>
            </a:r>
            <a:r>
              <a:rPr sz="1700" b="0">
                <a:solidFill>
                  <a:srgbClr val="111111"/>
                </a:solidFill>
                <a:latin typeface="Calibri"/>
              </a:rPr>
              <a:t> wählen (Schulung B). Hinter jedem Termin steht, wie viele Plätze noch frei sind.</a:t>
            </a:r>
          </a:p>
          <a:p>
            <a:pPr algn="l">
              <a:spcAft>
                <a:spcPts val="1019"/>
              </a:spcAft>
            </a:pPr>
            <a:r>
              <a:rPr sz="1700" b="0">
                <a:solidFill>
                  <a:srgbClr val="111111"/>
                </a:solidFill>
                <a:latin typeface="Calibri"/>
              </a:rPr>
              <a:t>5. Optional einen </a:t>
            </a:r>
            <a:r>
              <a:rPr sz="1700" b="1">
                <a:solidFill>
                  <a:srgbClr val="111111"/>
                </a:solidFill>
                <a:latin typeface="Calibri"/>
              </a:rPr>
              <a:t>Kommentar</a:t>
            </a:r>
            <a:r>
              <a:rPr sz="1700" b="0">
                <a:solidFill>
                  <a:srgbClr val="111111"/>
                </a:solidFill>
                <a:latin typeface="Calibri"/>
              </a:rPr>
              <a:t> eintragen, z. B. „Logistik-Gruppe“. Er steht später im Verlauf des Bewerbers.</a:t>
            </a:r>
          </a:p>
          <a:p>
            <a:pPr algn="l">
              <a:spcAft>
                <a:spcPts val="1019"/>
              </a:spcAft>
            </a:pPr>
            <a:r>
              <a:rPr sz="1700" b="0">
                <a:solidFill>
                  <a:srgbClr val="111111"/>
                </a:solidFill>
                <a:latin typeface="Calibri"/>
              </a:rPr>
              <a:t>6. Auf </a:t>
            </a:r>
            <a:r>
              <a:rPr sz="1700" b="1">
                <a:solidFill>
                  <a:srgbClr val="111111"/>
                </a:solidFill>
                <a:latin typeface="Calibri"/>
              </a:rPr>
              <a:t>„Verschieben“</a:t>
            </a:r>
            <a:r>
              <a:rPr sz="1700" b="0">
                <a:solidFill>
                  <a:srgbClr val="111111"/>
                </a:solidFill>
                <a:latin typeface="Calibri"/>
              </a:rPr>
              <a:t> klicken. Fertig.</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Status, Bestätigung und Notizen bleiben. Wer schon erinnert wurde, bekommt keine zweite Erinnerung. Es geht keine Nachricht raus.</a:t>
            </a:r>
          </a:p>
        </p:txBody>
      </p:sp>
      <p:pic>
        <p:nvPicPr>
          <p:cNvPr id="10" name="Picture 9" descr="B_fenster_verschieben.png"/>
          <p:cNvPicPr>
            <a:picLocks noChangeAspect="1"/>
          </p:cNvPicPr>
          <p:nvPr/>
        </p:nvPicPr>
        <p:blipFill>
          <a:blip r:embed="rId2"/>
          <a:stretch>
            <a:fillRect/>
          </a:stretch>
        </p:blipFill>
        <p:spPr>
          <a:xfrm>
            <a:off x="4386397" y="1719072"/>
            <a:ext cx="6909164" cy="4517136"/>
          </a:xfrm>
          <a:prstGeom prst="rect">
            <a:avLst/>
          </a:prstGeom>
          <a:ln w="9525">
            <a:solidFill>
              <a:srgbClr val="B8BCC4"/>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WÄHREND DER SCHULUNG</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Erst „Teilgenommen“, dann in Gruppen aufteilen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03</a:t>
            </a:r>
          </a:p>
        </p:txBody>
      </p:sp>
      <p:sp>
        <p:nvSpPr>
          <p:cNvPr id="8" name="TextBox 7"/>
          <p:cNvSpPr txBox="1"/>
          <p:nvPr/>
        </p:nvSpPr>
        <p:spPr>
          <a:xfrm>
            <a:off x="685800" y="1746504"/>
            <a:ext cx="10789920" cy="73152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Verschieben geht auch, solange der Termin läuft, und auch mit Teilnehmern, die schon auf </a:t>
            </a:r>
            <a:r>
              <a:rPr sz="1800" b="1">
                <a:solidFill>
                  <a:srgbClr val="111111"/>
                </a:solidFill>
                <a:latin typeface="Calibri"/>
              </a:rPr>
              <a:t>Teilgenommen</a:t>
            </a:r>
            <a:r>
              <a:rPr sz="1800" b="0">
                <a:solidFill>
                  <a:srgbClr val="111111"/>
                </a:solidFill>
                <a:latin typeface="Calibri"/>
              </a:rPr>
              <a:t> stehen. In der großen Gruppe alle Anwesenden auf Teilgenommen setzen, danach in die Gruppen verschieben. Der Status wandert mit.</a:t>
            </a:r>
          </a:p>
        </p:txBody>
      </p:sp>
      <p:pic>
        <p:nvPicPr>
          <p:cNvPr id="9" name="Picture 8" descr="C_status_teilgenommen.png"/>
          <p:cNvPicPr>
            <a:picLocks noChangeAspect="1"/>
          </p:cNvPicPr>
          <p:nvPr/>
        </p:nvPicPr>
        <p:blipFill>
          <a:blip r:embed="rId2"/>
          <a:stretch>
            <a:fillRect/>
          </a:stretch>
        </p:blipFill>
        <p:spPr>
          <a:xfrm>
            <a:off x="685800" y="2891794"/>
            <a:ext cx="7287768" cy="3131810"/>
          </a:xfrm>
          <a:prstGeom prst="rect">
            <a:avLst/>
          </a:prstGeom>
          <a:ln w="9525">
            <a:solidFill>
              <a:srgbClr val="B8BCC4"/>
            </a:solidFill>
          </a:ln>
        </p:spPr>
      </p:pic>
      <p:sp>
        <p:nvSpPr>
          <p:cNvPr id="10" name="TextBox 9"/>
          <p:cNvSpPr txBox="1"/>
          <p:nvPr/>
        </p:nvSpPr>
        <p:spPr>
          <a:xfrm>
            <a:off x="8394192" y="2743200"/>
            <a:ext cx="3108960" cy="3657600"/>
          </a:xfrm>
          <a:prstGeom prst="rect">
            <a:avLst/>
          </a:prstGeom>
          <a:noFill/>
        </p:spPr>
        <p:txBody>
          <a:bodyPr wrap="square" anchor="t" lIns="45720" rIns="45720">
            <a:spAutoFit/>
          </a:bodyPr>
          <a:lstStyle/>
          <a:p>
            <a:pPr algn="l">
              <a:spcAft>
                <a:spcPts val="1140"/>
              </a:spcAft>
            </a:pPr>
            <a:r>
              <a:rPr sz="1900" b="1">
                <a:solidFill>
                  <a:srgbClr val="1273DE"/>
                </a:solidFill>
                <a:latin typeface="Calibri"/>
              </a:rPr>
              <a:t>Ziel: gleiche Stelle</a:t>
            </a:r>
          </a:p>
          <a:p>
            <a:pPr algn="l">
              <a:spcAft>
                <a:spcPts val="1140"/>
              </a:spcAft>
            </a:pPr>
            <a:r>
              <a:rPr sz="1900" b="1">
                <a:solidFill>
                  <a:srgbClr val="1273DE"/>
                </a:solidFill>
                <a:latin typeface="Calibri"/>
              </a:rPr>
              <a:t>Bis der Zieltermin zu Ende ist</a:t>
            </a:r>
          </a:p>
          <a:p>
            <a:pPr algn="l">
              <a:spcAft>
                <a:spcPts val="1140"/>
              </a:spcAft>
            </a:pPr>
            <a:r>
              <a:rPr sz="1900" b="1">
                <a:solidFill>
                  <a:srgbClr val="1273DE"/>
                </a:solidFill>
                <a:latin typeface="Calibri"/>
              </a:rPr>
              <a:t>Teilgenommen nur am selben Tag</a:t>
            </a:r>
          </a:p>
        </p:txBody>
      </p:sp>
      <p:sp>
        <p:nvSpPr>
          <p:cNvPr id="11" name="TextBox 10"/>
          <p:cNvSpPr txBox="1"/>
          <p:nvPr/>
        </p:nvSpPr>
        <p:spPr>
          <a:xfrm>
            <a:off x="8394192" y="5257800"/>
            <a:ext cx="3108960" cy="914400"/>
          </a:xfrm>
          <a:prstGeom prst="rect">
            <a:avLst/>
          </a:prstGeom>
          <a:noFill/>
        </p:spPr>
        <p:txBody>
          <a:bodyPr wrap="square" anchor="t" lIns="45720" rIns="45720">
            <a:spAutoFit/>
          </a:bodyPr>
          <a:lstStyle/>
          <a:p>
            <a:pPr algn="l">
              <a:spcAft>
                <a:spcPts val="900"/>
              </a:spcAft>
            </a:pPr>
            <a:r>
              <a:rPr sz="1500" b="0">
                <a:solidFill>
                  <a:srgbClr val="111111"/>
                </a:solidFill>
                <a:latin typeface="Calibri"/>
              </a:rPr>
              <a:t>Im Zieltermin steht an der Person „aus …“ mit dem alten Termin.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WENN EINE SCHULUNG VOLL IST · SCHRITT 1</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Bewerber ohne Termin finden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04</a:t>
            </a:r>
          </a:p>
        </p:txBody>
      </p:sp>
      <p:sp>
        <p:nvSpPr>
          <p:cNvPr id="8" name="TextBox 7"/>
          <p:cNvSpPr txBox="1"/>
          <p:nvPr/>
        </p:nvSpPr>
        <p:spPr>
          <a:xfrm>
            <a:off x="685800" y="1600200"/>
            <a:ext cx="10789920" cy="731520"/>
          </a:xfrm>
          <a:prstGeom prst="rect">
            <a:avLst/>
          </a:prstGeom>
          <a:noFill/>
        </p:spPr>
        <p:txBody>
          <a:bodyPr wrap="square" anchor="t" lIns="45720" rIns="45720">
            <a:spAutoFit/>
          </a:bodyPr>
          <a:lstStyle/>
          <a:p>
            <a:pPr algn="l">
              <a:spcAft>
                <a:spcPts val="960"/>
              </a:spcAft>
            </a:pPr>
            <a:r>
              <a:rPr sz="1600" b="0">
                <a:solidFill>
                  <a:srgbClr val="5F6368"/>
                </a:solidFill>
                <a:latin typeface="Calibri"/>
              </a:rPr>
              <a:t>Ist ein kommender Termin ausgebucht, schreibt ihr mit einem Klick alle Bewerber dieser Ausschreibung ohne Termin an. Sie bekommen eine WhatsApp mit dem Link zur Terminauswahl und buchen sich selbst in einen anderen Termin.</a:t>
            </a:r>
          </a:p>
        </p:txBody>
      </p:sp>
      <p:sp>
        <p:nvSpPr>
          <p:cNvPr id="9" name="TextBox 8"/>
          <p:cNvSpPr txBox="1"/>
          <p:nvPr/>
        </p:nvSpPr>
        <p:spPr>
          <a:xfrm>
            <a:off x="685800" y="2514600"/>
            <a:ext cx="5212080" cy="288036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1. </a:t>
            </a:r>
            <a:r>
              <a:rPr sz="1800" b="1">
                <a:solidFill>
                  <a:srgbClr val="111111"/>
                </a:solidFill>
                <a:latin typeface="Calibri"/>
              </a:rPr>
              <a:t>Statistik</a:t>
            </a:r>
            <a:r>
              <a:rPr sz="1800" b="0">
                <a:solidFill>
                  <a:srgbClr val="111111"/>
                </a:solidFill>
                <a:latin typeface="Calibri"/>
              </a:rPr>
              <a:t> öffnen, Filiale wählen, nach unten zur Tabelle </a:t>
            </a:r>
            <a:r>
              <a:rPr sz="1800" b="1">
                <a:solidFill>
                  <a:srgbClr val="111111"/>
                </a:solidFill>
                <a:latin typeface="Calibri"/>
              </a:rPr>
              <a:t>„Schulungstermine“</a:t>
            </a:r>
            <a:r>
              <a:rPr sz="1800" b="0">
                <a:solidFill>
                  <a:srgbClr val="111111"/>
                </a:solidFill>
                <a:latin typeface="Calibri"/>
              </a:rPr>
              <a:t> scrollen.</a:t>
            </a:r>
          </a:p>
          <a:p>
            <a:pPr algn="l">
              <a:spcAft>
                <a:spcPts val="1080"/>
              </a:spcAft>
            </a:pPr>
            <a:r>
              <a:rPr sz="1800" b="0">
                <a:solidFill>
                  <a:srgbClr val="111111"/>
                </a:solidFill>
                <a:latin typeface="Calibri"/>
              </a:rPr>
              <a:t>2. Am vollen Termin steht in der Spalte Ausschreibung das Badge </a:t>
            </a:r>
            <a:r>
              <a:rPr sz="1800" b="1">
                <a:solidFill>
                  <a:srgbClr val="111111"/>
                </a:solidFill>
                <a:latin typeface="Calibri"/>
              </a:rPr>
              <a:t>„Ausgebucht“</a:t>
            </a:r>
            <a:r>
              <a:rPr sz="1800" b="0">
                <a:solidFill>
                  <a:srgbClr val="111111"/>
                </a:solidFill>
                <a:latin typeface="Calibri"/>
              </a:rPr>
              <a:t> und daneben die Pille </a:t>
            </a:r>
            <a:r>
              <a:rPr sz="1800" b="1">
                <a:solidFill>
                  <a:srgbClr val="111111"/>
                </a:solidFill>
                <a:latin typeface="Calibri"/>
              </a:rPr>
              <a:t>„N ohne Termin“</a:t>
            </a:r>
            <a:r>
              <a:rPr sz="1800" b="0">
                <a:solidFill>
                  <a:srgbClr val="111111"/>
                </a:solidFill>
                <a:latin typeface="Calibri"/>
              </a:rPr>
              <a:t>. Auf die Pille klicken.</a:t>
            </a:r>
          </a:p>
        </p:txBody>
      </p:sp>
      <p:sp>
        <p:nvSpPr>
          <p:cNvPr id="10" name="TextBox 9"/>
          <p:cNvSpPr txBox="1"/>
          <p:nvPr/>
        </p:nvSpPr>
        <p:spPr>
          <a:xfrm>
            <a:off x="6263640" y="2514600"/>
            <a:ext cx="5212080" cy="288036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3. Oben im Fenster steht der Anlass: welcher Termin voll ist und wie viele weitere Termine mit freien Plätzen es an dieser Stelle gibt. </a:t>
            </a:r>
            <a:r>
              <a:rPr sz="1800" b="1">
                <a:solidFill>
                  <a:srgbClr val="111111"/>
                </a:solidFill>
                <a:latin typeface="Calibri"/>
              </a:rPr>
              <a:t>Ist die Karte rot, gibt es keine Alternative.</a:t>
            </a:r>
            <a:r>
              <a:rPr sz="1800" b="0">
                <a:solidFill>
                  <a:srgbClr val="111111"/>
                </a:solidFill>
                <a:latin typeface="Calibri"/>
              </a:rPr>
              <a:t> Dann erst einen neuen Termin anlegen.</a:t>
            </a:r>
          </a:p>
        </p:txBody>
      </p:sp>
      <p:sp>
        <p:nvSpPr>
          <p:cNvPr id="11" name="TextBox 10"/>
          <p:cNvSpPr txBox="1"/>
          <p:nvPr/>
        </p:nvSpPr>
        <p:spPr>
          <a:xfrm>
            <a:off x="685800" y="5486400"/>
            <a:ext cx="10789920" cy="731520"/>
          </a:xfrm>
          <a:prstGeom prst="rect">
            <a:avLst/>
          </a:prstGeom>
          <a:noFill/>
        </p:spPr>
        <p:txBody>
          <a:bodyPr wrap="square" anchor="t" lIns="45720" rIns="45720">
            <a:spAutoFit/>
          </a:bodyPr>
          <a:lstStyle/>
          <a:p>
            <a:pPr algn="l">
              <a:spcAft>
                <a:spcPts val="960"/>
              </a:spcAft>
            </a:pPr>
            <a:r>
              <a:rPr sz="1600" b="0">
                <a:solidFill>
                  <a:srgbClr val="5F6368"/>
                </a:solidFill>
                <a:latin typeface="Calibri"/>
              </a:rPr>
              <a:t>Die Pille erscheint nur bei Platzzahl, voll belegt, künftigem Termin und hinterlegter Ausschreibung. Fehlt die Ausschreibung, steht nur das Badge mit „keine Ausschreibung“.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WENN EINE SCHULUNG VOLL IST · SCHRITT 2</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Empfänger prüfen und senden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05</a:t>
            </a:r>
          </a:p>
        </p:txBody>
      </p:sp>
      <p:sp>
        <p:nvSpPr>
          <p:cNvPr id="8" name="TextBox 7"/>
          <p:cNvSpPr txBox="1"/>
          <p:nvPr/>
        </p:nvSpPr>
        <p:spPr>
          <a:xfrm>
            <a:off x="685800" y="1773936"/>
            <a:ext cx="5212080" cy="3621024"/>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4. Die Liste zeigt die Bewerber. Jede angehakte Zeile trägt den Chip </a:t>
            </a:r>
            <a:r>
              <a:rPr sz="1800" b="1">
                <a:solidFill>
                  <a:srgbClr val="111111"/>
                </a:solidFill>
                <a:latin typeface="Calibri"/>
              </a:rPr>
              <a:t>„bekommt: Termine ansehen“</a:t>
            </a:r>
            <a:r>
              <a:rPr sz="1800" b="0">
                <a:solidFill>
                  <a:srgbClr val="111111"/>
                </a:solidFill>
                <a:latin typeface="Calibri"/>
              </a:rPr>
              <a:t>. Wer nicht angeschrieben werden soll: Haken raus. Graue Zeilen sind gesperrt, der Grund steht daneben.</a:t>
            </a:r>
          </a:p>
          <a:p>
            <a:pPr algn="l">
              <a:spcAft>
                <a:spcPts val="1080"/>
              </a:spcAft>
            </a:pPr>
            <a:r>
              <a:rPr sz="1800" b="0">
                <a:solidFill>
                  <a:srgbClr val="111111"/>
                </a:solidFill>
                <a:latin typeface="Calibri"/>
              </a:rPr>
              <a:t>5. Unten steht die Nachricht so, wie der Bewerber sie liest, mit „Anna“ als Beispielname. Beim Versand steht dort der echte Vorname. Über </a:t>
            </a:r>
            <a:r>
              <a:rPr sz="1800" b="1">
                <a:solidFill>
                  <a:srgbClr val="111111"/>
                </a:solidFill>
                <a:latin typeface="Calibri"/>
              </a:rPr>
              <a:t>„Vorlage ändern“</a:t>
            </a:r>
            <a:r>
              <a:rPr sz="1800" b="0">
                <a:solidFill>
                  <a:srgbClr val="111111"/>
                </a:solidFill>
                <a:latin typeface="Calibri"/>
              </a:rPr>
              <a:t> wählt ihr eine andere Vorlage.</a:t>
            </a:r>
          </a:p>
        </p:txBody>
      </p:sp>
      <p:sp>
        <p:nvSpPr>
          <p:cNvPr id="9" name="TextBox 8"/>
          <p:cNvSpPr txBox="1"/>
          <p:nvPr/>
        </p:nvSpPr>
        <p:spPr>
          <a:xfrm>
            <a:off x="6263640" y="1773936"/>
            <a:ext cx="5212080" cy="3621024"/>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6. Auf </a:t>
            </a:r>
            <a:r>
              <a:rPr sz="1800" b="1">
                <a:solidFill>
                  <a:srgbClr val="111111"/>
                </a:solidFill>
                <a:latin typeface="Calibri"/>
              </a:rPr>
              <a:t>„WhatsApp an N Personen senden“</a:t>
            </a:r>
            <a:r>
              <a:rPr sz="1800" b="0">
                <a:solidFill>
                  <a:srgbClr val="111111"/>
                </a:solidFill>
                <a:latin typeface="Calibri"/>
              </a:rPr>
              <a:t> klicken und die Nachfrage bestätigen. Der Fortschritt läuft im Fenster mit.</a:t>
            </a:r>
          </a:p>
        </p:txBody>
      </p:sp>
      <p:sp>
        <p:nvSpPr>
          <p:cNvPr id="10" name="TextBox 9"/>
          <p:cNvSpPr txBox="1"/>
          <p:nvPr/>
        </p:nvSpPr>
        <p:spPr>
          <a:xfrm>
            <a:off x="685800" y="5486400"/>
            <a:ext cx="10789920" cy="73152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Die Bewerber buchen sich danach selbst in einen freien Termin.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GUT ZU WISSEN · TEILNEHMER VERSCHIEBEN</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Regeln auf einen Blick</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06</a:t>
            </a:r>
          </a:p>
        </p:txBody>
      </p:sp>
      <p:graphicFrame>
        <p:nvGraphicFramePr>
          <p:cNvPr id="8" name="Table 7"/>
          <p:cNvGraphicFramePr>
            <a:graphicFrameLocks noGrp="1"/>
          </p:cNvGraphicFramePr>
          <p:nvPr/>
        </p:nvGraphicFramePr>
        <p:xfrm>
          <a:off x="685800" y="1737360"/>
          <a:ext cx="10789920" cy="2194560"/>
        </p:xfrm>
        <a:graphic>
          <a:graphicData uri="http://schemas.openxmlformats.org/drawingml/2006/table">
            <a:tbl>
              <a:tblPr bandRow="1">
                <a:tableStyleId>{5C22544A-7EE6-4342-B048-85BDC9FD1C3A}</a:tableStyleId>
              </a:tblPr>
              <a:tblGrid>
                <a:gridCol w="3017520"/>
                <a:gridCol w="7772400"/>
              </a:tblGrid>
              <a:tr h="548640">
                <a:tc>
                  <a:txBody>
                    <a:bodyPr/>
                    <a:lstStyle/>
                    <a:p>
                      <a:r>
                        <a:rPr sz="1400" b="1">
                          <a:solidFill>
                            <a:srgbClr val="1273DE"/>
                          </a:solidFill>
                          <a:latin typeface="Calibri"/>
                        </a:rPr>
                        <a:t>Verschieben: welche Termine</a:t>
                      </a:r>
                    </a:p>
                  </a:txBody>
                  <a:tcPr marL="109728" marT="45720" marB="45720">
                    <a:solidFill>
                      <a:srgbClr val="F1F3F5"/>
                    </a:solidFill>
                  </a:tcPr>
                </a:tc>
                <a:tc>
                  <a:txBody>
                    <a:bodyPr/>
                    <a:lstStyle/>
                    <a:p>
                      <a:r>
                        <a:rPr sz="1400" b="0">
                          <a:solidFill>
                            <a:srgbClr val="111111"/>
                          </a:solidFill>
                          <a:latin typeface="Calibri"/>
                        </a:rPr>
                        <a:t>Nur aktive Termine derselben Stelle (gleicher Ort), die noch nicht zu Ende sind. Ein laufender Termin geht also noch. Wer in eine andere Filiale soll, bucht über die Terminauswahl neu.</a:t>
                      </a:r>
                    </a:p>
                  </a:txBody>
                  <a:tcPr marL="109728" marT="45720" marB="45720">
                    <a:solidFill>
                      <a:srgbClr val="F1F3F5"/>
                    </a:solidFill>
                  </a:tcPr>
                </a:tc>
              </a:tr>
              <a:tr h="548640">
                <a:tc>
                  <a:txBody>
                    <a:bodyPr/>
                    <a:lstStyle/>
                    <a:p>
                      <a:r>
                        <a:rPr sz="1400" b="1">
                          <a:solidFill>
                            <a:srgbClr val="1273DE"/>
                          </a:solidFill>
                          <a:latin typeface="Calibri"/>
                        </a:rPr>
                        <a:t>Verschieben: wer</a:t>
                      </a:r>
                    </a:p>
                  </a:txBody>
                  <a:tcPr marL="109728" marT="45720" marB="45720">
                    <a:solidFill>
                      <a:srgbClr val="FFFFFF"/>
                    </a:solidFill>
                  </a:tcPr>
                </a:tc>
                <a:tc>
                  <a:txBody>
                    <a:bodyPr/>
                    <a:lstStyle/>
                    <a:p>
                      <a:r>
                        <a:rPr sz="1400" b="0">
                          <a:solidFill>
                            <a:srgbClr val="111111"/>
                          </a:solidFill>
                          <a:latin typeface="Calibri"/>
                        </a:rPr>
                        <a:t>Gebucht, registriert und bestätigt immer. Teilgenommen nur in einen Termin am selben Tag. Stornierte, nicht erschienene und vor Ort aussortierte bleiben, wo sie sind.</a:t>
                      </a:r>
                    </a:p>
                  </a:txBody>
                  <a:tcPr marL="109728" marT="45720" marB="45720">
                    <a:solidFill>
                      <a:srgbClr val="FFFFFF"/>
                    </a:solidFill>
                  </a:tcPr>
                </a:tc>
              </a:tr>
              <a:tr h="548640">
                <a:tc>
                  <a:txBody>
                    <a:bodyPr/>
                    <a:lstStyle/>
                    <a:p>
                      <a:r>
                        <a:rPr sz="1400" b="1">
                          <a:solidFill>
                            <a:srgbClr val="1273DE"/>
                          </a:solidFill>
                          <a:latin typeface="Calibri"/>
                        </a:rPr>
                        <a:t>Verschieben: Plätze</a:t>
                      </a:r>
                    </a:p>
                  </a:txBody>
                  <a:tcPr marL="109728" marT="45720" marB="45720">
                    <a:solidFill>
                      <a:srgbClr val="F1F3F5"/>
                    </a:solidFill>
                  </a:tcPr>
                </a:tc>
                <a:tc>
                  <a:txBody>
                    <a:bodyPr/>
                    <a:lstStyle/>
                    <a:p>
                      <a:r>
                        <a:rPr sz="1400" b="0">
                          <a:solidFill>
                            <a:srgbClr val="111111"/>
                          </a:solidFill>
                          <a:latin typeface="Calibri"/>
                        </a:rPr>
                        <a:t>Hat der Zieltermin eine Platzzahl, werden nur so viele verschoben, wie Plätze frei sind. Wer nicht mehr passt, bleibt in Schulung A.</a:t>
                      </a:r>
                    </a:p>
                  </a:txBody>
                  <a:tcPr marL="109728" marT="45720" marB="45720">
                    <a:solidFill>
                      <a:srgbClr val="F1F3F5"/>
                    </a:solidFill>
                  </a:tcPr>
                </a:tc>
              </a:tr>
              <a:tr h="548640">
                <a:tc>
                  <a:txBody>
                    <a:bodyPr/>
                    <a:lstStyle/>
                    <a:p>
                      <a:r>
                        <a:rPr sz="1400" b="1">
                          <a:solidFill>
                            <a:srgbClr val="1273DE"/>
                          </a:solidFill>
                          <a:latin typeface="Calibri"/>
                        </a:rPr>
                        <a:t>Verschieben: Nachricht</a:t>
                      </a:r>
                    </a:p>
                  </a:txBody>
                  <a:tcPr marL="109728" marT="45720" marB="45720">
                    <a:solidFill>
                      <a:srgbClr val="FFFFFF"/>
                    </a:solidFill>
                  </a:tcPr>
                </a:tc>
                <a:tc>
                  <a:txBody>
                    <a:bodyPr/>
                    <a:lstStyle/>
                    <a:p>
                      <a:r>
                        <a:rPr sz="1400" b="0">
                          <a:solidFill>
                            <a:srgbClr val="111111"/>
                          </a:solidFill>
                          <a:latin typeface="Calibri"/>
                        </a:rPr>
                        <a:t>Keine. Wenn die Person Bescheid wissen soll, bitte selbst anschreiben.</a:t>
                      </a:r>
                    </a:p>
                  </a:txBody>
                  <a:tcPr marL="109728" marT="45720" marB="45720">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GUT ZU WISSEN · KAMPAGNE „SCHULUNG VOLL“</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Regeln auf einen Blick</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07</a:t>
            </a:r>
          </a:p>
        </p:txBody>
      </p:sp>
      <p:graphicFrame>
        <p:nvGraphicFramePr>
          <p:cNvPr id="8" name="Table 7"/>
          <p:cNvGraphicFramePr>
            <a:graphicFrameLocks noGrp="1"/>
          </p:cNvGraphicFramePr>
          <p:nvPr/>
        </p:nvGraphicFramePr>
        <p:xfrm>
          <a:off x="685800" y="1737360"/>
          <a:ext cx="10789920" cy="2743200"/>
        </p:xfrm>
        <a:graphic>
          <a:graphicData uri="http://schemas.openxmlformats.org/drawingml/2006/table">
            <a:tbl>
              <a:tblPr bandRow="1">
                <a:tableStyleId>{5C22544A-7EE6-4342-B048-85BDC9FD1C3A}</a:tableStyleId>
              </a:tblPr>
              <a:tblGrid>
                <a:gridCol w="3017520"/>
                <a:gridCol w="7772400"/>
              </a:tblGrid>
              <a:tr h="548640">
                <a:tc>
                  <a:txBody>
                    <a:bodyPr/>
                    <a:lstStyle/>
                    <a:p>
                      <a:r>
                        <a:rPr sz="1400" b="1">
                          <a:solidFill>
                            <a:srgbClr val="1273DE"/>
                          </a:solidFill>
                          <a:latin typeface="Calibri"/>
                        </a:rPr>
                        <a:t>Kampagne: wer bekommt sie</a:t>
                      </a:r>
                    </a:p>
                  </a:txBody>
                  <a:tcPr marL="109728" marT="45720" marB="45720">
                    <a:solidFill>
                      <a:srgbClr val="F1F3F5"/>
                    </a:solidFill>
                  </a:tcPr>
                </a:tc>
                <a:tc>
                  <a:txBody>
                    <a:bodyPr/>
                    <a:lstStyle/>
                    <a:p>
                      <a:r>
                        <a:rPr sz="1400" b="0">
                          <a:solidFill>
                            <a:srgbClr val="111111"/>
                          </a:solidFill>
                          <a:latin typeface="Calibri"/>
                        </a:rPr>
                        <a:t>Nur Bewerber, die Phase 1 abgeschlossen haben und in der Terminauswahl stehen. Wer die Bewerbung noch nicht vervollständigt hat, bleibt sichtbar, ist aber gesperrt.</a:t>
                      </a:r>
                    </a:p>
                  </a:txBody>
                  <a:tcPr marL="109728" marT="45720" marB="45720">
                    <a:solidFill>
                      <a:srgbClr val="F1F3F5"/>
                    </a:solidFill>
                  </a:tcPr>
                </a:tc>
              </a:tr>
              <a:tr h="548640">
                <a:tc>
                  <a:txBody>
                    <a:bodyPr/>
                    <a:lstStyle/>
                    <a:p>
                      <a:r>
                        <a:rPr sz="1400" b="1">
                          <a:solidFill>
                            <a:srgbClr val="1273DE"/>
                          </a:solidFill>
                          <a:latin typeface="Calibri"/>
                        </a:rPr>
                        <a:t>Kampagne: danach</a:t>
                      </a:r>
                    </a:p>
                  </a:txBody>
                  <a:tcPr marL="109728" marT="45720" marB="45720">
                    <a:solidFill>
                      <a:srgbClr val="FFFFFF"/>
                    </a:solidFill>
                  </a:tcPr>
                </a:tc>
                <a:tc>
                  <a:txBody>
                    <a:bodyPr/>
                    <a:lstStyle/>
                    <a:p>
                      <a:r>
                        <a:rPr sz="1400" b="0">
                          <a:solidFill>
                            <a:srgbClr val="111111"/>
                          </a:solidFill>
                          <a:latin typeface="Calibri"/>
                        </a:rPr>
                        <a:t>Keine automatischen Erinnerungen. Bucht die Person einen Termin, läuft alles wie gewohnt weiter: Daten vervollständigen, Bestätigung, Vertrag.</a:t>
                      </a:r>
                    </a:p>
                  </a:txBody>
                  <a:tcPr marL="109728" marT="45720" marB="45720">
                    <a:solidFill>
                      <a:srgbClr val="FFFFFF"/>
                    </a:solidFill>
                  </a:tcPr>
                </a:tc>
              </a:tr>
              <a:tr h="548640">
                <a:tc>
                  <a:txBody>
                    <a:bodyPr/>
                    <a:lstStyle/>
                    <a:p>
                      <a:r>
                        <a:rPr sz="1400" b="1">
                          <a:solidFill>
                            <a:srgbClr val="1273DE"/>
                          </a:solidFill>
                          <a:latin typeface="Calibri"/>
                        </a:rPr>
                        <a:t>Kampagne: doppelt</a:t>
                      </a:r>
                    </a:p>
                  </a:txBody>
                  <a:tcPr marL="109728" marT="45720" marB="45720">
                    <a:solidFill>
                      <a:srgbClr val="F1F3F5"/>
                    </a:solidFill>
                  </a:tcPr>
                </a:tc>
                <a:tc>
                  <a:txBody>
                    <a:bodyPr/>
                    <a:lstStyle/>
                    <a:p>
                      <a:r>
                        <a:rPr sz="1400" b="0">
                          <a:solidFill>
                            <a:srgbClr val="111111"/>
                          </a:solidFill>
                          <a:latin typeface="Calibri"/>
                        </a:rPr>
                        <a:t>Wer in den letzten 14 Tagen schon eine Kampagne bekam, ist vorsichtshalber abgehakt (Badge „angeschrieben am …“). Haken setzen geht trotzdem.</a:t>
                      </a:r>
                    </a:p>
                  </a:txBody>
                  <a:tcPr marL="109728" marT="45720" marB="45720">
                    <a:solidFill>
                      <a:srgbClr val="F1F3F5"/>
                    </a:solidFill>
                  </a:tcPr>
                </a:tc>
              </a:tr>
              <a:tr h="548640">
                <a:tc>
                  <a:txBody>
                    <a:bodyPr/>
                    <a:lstStyle/>
                    <a:p>
                      <a:r>
                        <a:rPr sz="1400" b="1">
                          <a:solidFill>
                            <a:srgbClr val="1273DE"/>
                          </a:solidFill>
                          <a:latin typeface="Calibri"/>
                        </a:rPr>
                        <a:t>Kampagne: Ausschreibungswechsel</a:t>
                      </a:r>
                    </a:p>
                  </a:txBody>
                  <a:tcPr marL="109728" marT="45720" marB="45720">
                    <a:solidFill>
                      <a:srgbClr val="FFFFFF"/>
                    </a:solidFill>
                  </a:tcPr>
                </a:tc>
                <a:tc>
                  <a:txBody>
                    <a:bodyPr/>
                    <a:lstStyle/>
                    <a:p>
                      <a:r>
                        <a:rPr sz="1400" b="0">
                          <a:solidFill>
                            <a:srgbClr val="111111"/>
                          </a:solidFill>
                          <a:latin typeface="Calibri"/>
                        </a:rPr>
                        <a:t>Bucht jemand am selben Ort eine Schulung einer anderen Ausschreibung, bleibt er in seiner Ausschreibung. In der Statistik seht ihr ihn beim neuen Termin unter „Herkunft“.</a:t>
                      </a:r>
                    </a:p>
                  </a:txBody>
                  <a:tcPr marL="109728" marT="45720" marB="45720">
                    <a:solidFill>
                      <a:srgbClr val="FFFFFF"/>
                    </a:solidFill>
                  </a:tcPr>
                </a:tc>
              </a:tr>
              <a:tr h="548640">
                <a:tc>
                  <a:txBody>
                    <a:bodyPr/>
                    <a:lstStyle/>
                    <a:p>
                      <a:r>
                        <a:rPr sz="1400" b="1">
                          <a:solidFill>
                            <a:srgbClr val="1273DE"/>
                          </a:solidFill>
                          <a:latin typeface="Calibri"/>
                        </a:rPr>
                        <a:t>Vorlage pflegen</a:t>
                      </a:r>
                    </a:p>
                  </a:txBody>
                  <a:tcPr marL="109728" marT="45720" marB="45720">
                    <a:solidFill>
                      <a:srgbClr val="F1F3F5"/>
                    </a:solidFill>
                  </a:tcPr>
                </a:tc>
                <a:tc>
                  <a:txBody>
                    <a:bodyPr/>
                    <a:lstStyle/>
                    <a:p>
                      <a:r>
                        <a:rPr sz="1400" b="0">
                          <a:solidFill>
                            <a:srgbClr val="111111"/>
                          </a:solidFill>
                          <a:latin typeface="Calibri"/>
                        </a:rPr>
                        <a:t>Bewerberliste → Einstellungen → „WhatsApp Template — Schulung voll, freie Termine“. Ohne Auswahl greift die normale Terminauswahl-Vorlage.</a:t>
                      </a:r>
                    </a:p>
                  </a:txBody>
                  <a:tcPr marL="109728" marT="45720" marB="45720">
                    <a:solidFill>
                      <a:srgbClr val="F1F3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