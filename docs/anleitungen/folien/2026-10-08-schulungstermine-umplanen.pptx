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7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47902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19"/>
              </a:spcAft>
            </a:pPr>
            <a:r>
              <a:rPr sz="1200" b="1">
                <a:solidFill>
                  <a:srgbClr val="1273DE"/>
                </a:solidFill>
                <a:latin typeface="Calibri"/>
              </a:rPr>
              <a:t>SCHRITT 1 · TEILNEHMER VERSCHIEBEN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31520"/>
            <a:ext cx="1093622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9"/>
              </a:spcAft>
            </a:pPr>
            <a:r>
              <a:rPr sz="2850" b="1">
                <a:solidFill>
                  <a:srgbClr val="111111"/>
                </a:solidFill>
                <a:latin typeface="Calibri"/>
              </a:rPr>
              <a:t>Teilnehmer auswählen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435608"/>
            <a:ext cx="11128248" cy="9144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19088"/>
            <a:ext cx="61904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RheinGedeck ·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9376" y="6419088"/>
            <a:ext cx="5303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73936"/>
            <a:ext cx="32918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19"/>
              </a:spcAft>
            </a:pPr>
            <a:r>
              <a:rPr sz="1700" b="0">
                <a:solidFill>
                  <a:srgbClr val="111111"/>
                </a:solidFill>
                <a:latin typeface="Calibri"/>
              </a:rPr>
              <a:t>1. </a:t>
            </a:r>
            <a:r>
              <a:rPr sz="1700" b="1">
                <a:solidFill>
                  <a:srgbClr val="111111"/>
                </a:solidFill>
                <a:latin typeface="Calibri"/>
              </a:rPr>
              <a:t>Schulungstermine</a:t>
            </a:r>
            <a:r>
              <a:rPr sz="1700" b="0">
                <a:solidFill>
                  <a:srgbClr val="111111"/>
                </a:solidFill>
                <a:latin typeface="Calibri"/>
              </a:rPr>
              <a:t> öffnen und den Termin anklicken, aus dem ihr verschieben wollt.</a:t>
            </a:r>
          </a:p>
          <a:p>
            <a:pPr algn="l">
              <a:spcAft>
                <a:spcPts val="1019"/>
              </a:spcAft>
            </a:pPr>
            <a:r>
              <a:rPr sz="1700" b="0">
                <a:solidFill>
                  <a:srgbClr val="111111"/>
                </a:solidFill>
                <a:latin typeface="Calibri"/>
              </a:rPr>
              <a:t>2. In der Teilnehmerliste die Personen </a:t>
            </a:r>
            <a:r>
              <a:rPr sz="1700" b="1">
                <a:solidFill>
                  <a:srgbClr val="111111"/>
                </a:solidFill>
                <a:latin typeface="Calibri"/>
              </a:rPr>
              <a:t>anhaken</a:t>
            </a:r>
            <a:r>
              <a:rPr sz="1700" b="0">
                <a:solidFill>
                  <a:srgbClr val="111111"/>
                </a:solidFill>
                <a:latin typeface="Calibri"/>
              </a:rPr>
              <a:t>. Das Kästchen in der Kopfzeile wählt alle auf einmal.</a:t>
            </a:r>
          </a:p>
          <a:p>
            <a:pPr algn="l">
              <a:spcAft>
                <a:spcPts val="1019"/>
              </a:spcAft>
            </a:pPr>
            <a:r>
              <a:rPr sz="1700" b="0">
                <a:solidFill>
                  <a:srgbClr val="111111"/>
                </a:solidFill>
                <a:latin typeface="Calibri"/>
              </a:rPr>
              <a:t>3. Im blauen Balken auf </a:t>
            </a:r>
            <a:r>
              <a:rPr sz="1700" b="1">
                <a:solidFill>
                  <a:srgbClr val="111111"/>
                </a:solidFill>
                <a:latin typeface="Calibri"/>
              </a:rPr>
              <a:t>„Verschieben nach…“</a:t>
            </a:r>
            <a:r>
              <a:rPr sz="1700" b="0">
                <a:solidFill>
                  <a:srgbClr val="111111"/>
                </a:solidFill>
                <a:latin typeface="Calibri"/>
              </a:rPr>
              <a:t> klicken.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19"/>
              </a:spcAft>
            </a:pPr>
            <a:r>
              <a:rPr sz="1700" b="1">
                <a:solidFill>
                  <a:srgbClr val="1273DE"/>
                </a:solidFill>
                <a:latin typeface="Calibri"/>
              </a:rPr>
              <a:t>Geht vorher und während der Schulung.</a:t>
            </a:r>
          </a:p>
        </p:txBody>
      </p:sp>
      <p:pic>
        <p:nvPicPr>
          <p:cNvPr id="10" name="Picture 9" descr="A_liste_angeha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366088"/>
            <a:ext cx="7360920" cy="3277966"/>
          </a:xfrm>
          <a:prstGeom prst="rect">
            <a:avLst/>
          </a:prstGeom>
          <a:ln w="9525">
            <a:solidFill>
              <a:srgbClr val="B8BCC4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7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47902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19"/>
              </a:spcAft>
            </a:pPr>
            <a:r>
              <a:rPr sz="1200" b="1">
                <a:solidFill>
                  <a:srgbClr val="1273DE"/>
                </a:solidFill>
                <a:latin typeface="Calibri"/>
              </a:rPr>
              <a:t>SCHRITT 2 · TEILNEHMER VERSCHIEBEN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31520"/>
            <a:ext cx="1093622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9"/>
              </a:spcAft>
            </a:pPr>
            <a:r>
              <a:rPr sz="2850" b="1">
                <a:solidFill>
                  <a:srgbClr val="111111"/>
                </a:solidFill>
                <a:latin typeface="Calibri"/>
              </a:rPr>
              <a:t>Zieltermin wählen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435608"/>
            <a:ext cx="11128248" cy="9144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19088"/>
            <a:ext cx="61904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RheinGedeck ·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9376" y="6419088"/>
            <a:ext cx="5303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73936"/>
            <a:ext cx="32918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19"/>
              </a:spcAft>
            </a:pPr>
            <a:r>
              <a:rPr sz="1700" b="0">
                <a:solidFill>
                  <a:srgbClr val="111111"/>
                </a:solidFill>
                <a:latin typeface="Calibri"/>
              </a:rPr>
              <a:t>4. Den </a:t>
            </a:r>
            <a:r>
              <a:rPr sz="1700" b="1">
                <a:solidFill>
                  <a:srgbClr val="111111"/>
                </a:solidFill>
                <a:latin typeface="Calibri"/>
              </a:rPr>
              <a:t>Zieltermin</a:t>
            </a:r>
            <a:r>
              <a:rPr sz="1700" b="0">
                <a:solidFill>
                  <a:srgbClr val="111111"/>
                </a:solidFill>
                <a:latin typeface="Calibri"/>
              </a:rPr>
              <a:t> wählen. Hinter jedem Termin steht, wie viele Plätze frei sind.</a:t>
            </a:r>
          </a:p>
          <a:p>
            <a:pPr algn="l">
              <a:spcAft>
                <a:spcPts val="1019"/>
              </a:spcAft>
            </a:pPr>
            <a:r>
              <a:rPr sz="1700" b="0">
                <a:solidFill>
                  <a:srgbClr val="111111"/>
                </a:solidFill>
                <a:latin typeface="Calibri"/>
              </a:rPr>
              <a:t>5. Optional einen </a:t>
            </a:r>
            <a:r>
              <a:rPr sz="1700" b="1">
                <a:solidFill>
                  <a:srgbClr val="111111"/>
                </a:solidFill>
                <a:latin typeface="Calibri"/>
              </a:rPr>
              <a:t>Kommentar</a:t>
            </a:r>
            <a:r>
              <a:rPr sz="1700" b="0">
                <a:solidFill>
                  <a:srgbClr val="111111"/>
                </a:solidFill>
                <a:latin typeface="Calibri"/>
              </a:rPr>
              <a:t> eintragen, z. B. „Logistik-Gruppe“. Er steht im Verlauf.</a:t>
            </a:r>
          </a:p>
          <a:p>
            <a:pPr algn="l">
              <a:spcAft>
                <a:spcPts val="1019"/>
              </a:spcAft>
            </a:pPr>
            <a:r>
              <a:rPr sz="1700" b="0">
                <a:solidFill>
                  <a:srgbClr val="111111"/>
                </a:solidFill>
                <a:latin typeface="Calibri"/>
              </a:rPr>
              <a:t>6. Auf </a:t>
            </a:r>
            <a:r>
              <a:rPr sz="1700" b="1">
                <a:solidFill>
                  <a:srgbClr val="111111"/>
                </a:solidFill>
                <a:latin typeface="Calibri"/>
              </a:rPr>
              <a:t>„Verschieben“</a:t>
            </a:r>
            <a:r>
              <a:rPr sz="1700" b="0">
                <a:solidFill>
                  <a:srgbClr val="111111"/>
                </a:solidFill>
                <a:latin typeface="Calibri"/>
              </a:rPr>
              <a:t> klicken.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12080"/>
            <a:ext cx="32918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19"/>
              </a:spcAft>
            </a:pPr>
            <a:r>
              <a:rPr sz="1700" b="1">
                <a:solidFill>
                  <a:srgbClr val="1273DE"/>
                </a:solidFill>
                <a:latin typeface="Calibri"/>
              </a:rPr>
              <a:t>Status, Bestätigung und Notizen bleiben. Es geht keine Nachricht raus.</a:t>
            </a:r>
          </a:p>
        </p:txBody>
      </p:sp>
      <p:pic>
        <p:nvPicPr>
          <p:cNvPr id="10" name="Picture 9" descr="B_fenster_verschieb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439" y="1719072"/>
            <a:ext cx="6993081" cy="4572000"/>
          </a:xfrm>
          <a:prstGeom prst="rect">
            <a:avLst/>
          </a:prstGeom>
          <a:ln w="9525">
            <a:solidFill>
              <a:srgbClr val="B8BCC4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7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47902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19"/>
              </a:spcAft>
            </a:pPr>
            <a:r>
              <a:rPr sz="1200" b="1">
                <a:solidFill>
                  <a:srgbClr val="1273DE"/>
                </a:solidFill>
                <a:latin typeface="Calibri"/>
              </a:rPr>
              <a:t>AM SCHULUNGSABEND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31520"/>
            <a:ext cx="1093622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9"/>
              </a:spcAft>
            </a:pPr>
            <a:r>
              <a:rPr sz="2850" b="1">
                <a:solidFill>
                  <a:srgbClr val="111111"/>
                </a:solidFill>
                <a:latin typeface="Calibri"/>
              </a:rPr>
              <a:t>Erst „Teilgenommen“, dann aufteilen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435608"/>
            <a:ext cx="11128248" cy="9144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19088"/>
            <a:ext cx="61904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RheinGedeck ·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9376" y="6419088"/>
            <a:ext cx="5303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46504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11111"/>
                </a:solidFill>
                <a:latin typeface="Calibri"/>
              </a:rPr>
              <a:t>In der großen Gruppe alle Anwesenden auf </a:t>
            </a:r>
            <a:r>
              <a:rPr sz="2000" b="1">
                <a:solidFill>
                  <a:srgbClr val="111111"/>
                </a:solidFill>
                <a:latin typeface="Calibri"/>
              </a:rPr>
              <a:t>Teilgenommen</a:t>
            </a:r>
            <a:r>
              <a:rPr sz="2000" b="0">
                <a:solidFill>
                  <a:srgbClr val="111111"/>
                </a:solidFill>
                <a:latin typeface="Calibri"/>
              </a:rPr>
              <a:t> setzen. Danach in die Gruppen verschieben. Der Status wandert mit.</a:t>
            </a:r>
          </a:p>
        </p:txBody>
      </p:sp>
      <p:pic>
        <p:nvPicPr>
          <p:cNvPr id="9" name="Picture 8" descr="C_status_teilgenom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2358"/>
            <a:ext cx="7287768" cy="3131810"/>
          </a:xfrm>
          <a:prstGeom prst="rect">
            <a:avLst/>
          </a:prstGeom>
          <a:ln w="9525">
            <a:solidFill>
              <a:srgbClr val="B8BCC4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394192" y="2743200"/>
            <a:ext cx="310896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140"/>
              </a:spcAft>
            </a:pPr>
            <a:r>
              <a:rPr sz="1900" b="1">
                <a:solidFill>
                  <a:srgbClr val="1273DE"/>
                </a:solidFill>
                <a:latin typeface="Calibri"/>
              </a:rPr>
              <a:t>Ziel: gleiche Stelle</a:t>
            </a:r>
          </a:p>
          <a:p>
            <a:pPr algn="l">
              <a:spcAft>
                <a:spcPts val="1140"/>
              </a:spcAft>
            </a:pPr>
            <a:r>
              <a:rPr sz="1900" b="1">
                <a:solidFill>
                  <a:srgbClr val="1273DE"/>
                </a:solidFill>
                <a:latin typeface="Calibri"/>
              </a:rPr>
              <a:t>Bis der Zieltermin zu Ende ist</a:t>
            </a:r>
          </a:p>
          <a:p>
            <a:pPr algn="l">
              <a:spcAft>
                <a:spcPts val="1140"/>
              </a:spcAft>
            </a:pPr>
            <a:r>
              <a:rPr sz="1900" b="1">
                <a:solidFill>
                  <a:srgbClr val="1273DE"/>
                </a:solidFill>
                <a:latin typeface="Calibri"/>
              </a:rPr>
              <a:t>Teilgenommen nur am selben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525780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60"/>
              </a:spcAft>
            </a:pPr>
            <a:r>
              <a:rPr sz="1600" b="0">
                <a:solidFill>
                  <a:srgbClr val="111111"/>
                </a:solidFill>
                <a:latin typeface="Calibri"/>
              </a:rPr>
              <a:t>Volle Gruppe: Wer nicht mehr passt, bleibt im alten Termin.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7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47902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19"/>
              </a:spcAft>
            </a:pPr>
            <a:r>
              <a:rPr sz="1200" b="1">
                <a:solidFill>
                  <a:srgbClr val="1273DE"/>
                </a:solidFill>
                <a:latin typeface="Calibri"/>
              </a:rPr>
              <a:t>NACH DER SCHULUNG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31520"/>
            <a:ext cx="1093622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9"/>
              </a:spcAft>
            </a:pPr>
            <a:r>
              <a:rPr sz="2850" b="1">
                <a:solidFill>
                  <a:srgbClr val="111111"/>
                </a:solidFill>
                <a:latin typeface="Calibri"/>
              </a:rPr>
              <a:t>Vertragsdaten eintragen, auch zu zweit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435608"/>
            <a:ext cx="11128248" cy="9144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19088"/>
            <a:ext cx="61904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RheinGedeck ·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9376" y="6419088"/>
            <a:ext cx="5303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73936"/>
            <a:ext cx="32918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19"/>
              </a:spcAft>
            </a:pPr>
            <a:r>
              <a:rPr sz="1700" b="0">
                <a:solidFill>
                  <a:srgbClr val="111111"/>
                </a:solidFill>
                <a:latin typeface="Calibri"/>
              </a:rPr>
              <a:t>1. Den Termin öffnen, Reiter </a:t>
            </a:r>
            <a:r>
              <a:rPr sz="1700" b="1">
                <a:solidFill>
                  <a:srgbClr val="111111"/>
                </a:solidFill>
                <a:latin typeface="Calibri"/>
              </a:rPr>
              <a:t>„Nach der Schulung“</a:t>
            </a:r>
            <a:r>
              <a:rPr sz="1700" b="0">
                <a:solidFill>
                  <a:srgbClr val="111111"/>
                </a:solidFill>
                <a:latin typeface="Calibri"/>
              </a:rPr>
              <a:t>.</a:t>
            </a:r>
          </a:p>
          <a:p>
            <a:pPr algn="l">
              <a:spcAft>
                <a:spcPts val="1019"/>
              </a:spcAft>
            </a:pPr>
            <a:r>
              <a:rPr sz="1700" b="0">
                <a:solidFill>
                  <a:srgbClr val="111111"/>
                </a:solidFill>
                <a:latin typeface="Calibri"/>
              </a:rPr>
              <a:t>2. </a:t>
            </a:r>
            <a:r>
              <a:rPr sz="1700" b="1">
                <a:solidFill>
                  <a:srgbClr val="111111"/>
                </a:solidFill>
                <a:latin typeface="Calibri"/>
              </a:rPr>
              <a:t>Zuschlag</a:t>
            </a:r>
            <a:r>
              <a:rPr sz="1700" b="0">
                <a:solidFill>
                  <a:srgbClr val="111111"/>
                </a:solidFill>
                <a:latin typeface="Calibri"/>
              </a:rPr>
              <a:t>, </a:t>
            </a:r>
            <a:r>
              <a:rPr sz="1700" b="1">
                <a:solidFill>
                  <a:srgbClr val="111111"/>
                </a:solidFill>
                <a:latin typeface="Calibri"/>
              </a:rPr>
              <a:t>Vertragsbeginn</a:t>
            </a:r>
            <a:r>
              <a:rPr sz="1700" b="0">
                <a:solidFill>
                  <a:srgbClr val="111111"/>
                </a:solidFill>
                <a:latin typeface="Calibri"/>
              </a:rPr>
              <a:t> und bei Bedarf </a:t>
            </a:r>
            <a:r>
              <a:rPr sz="1700" b="1">
                <a:solidFill>
                  <a:srgbClr val="111111"/>
                </a:solidFill>
                <a:latin typeface="Calibri"/>
              </a:rPr>
              <a:t>Vertragsende</a:t>
            </a:r>
            <a:r>
              <a:rPr sz="1700" b="0">
                <a:solidFill>
                  <a:srgbClr val="111111"/>
                </a:solidFill>
                <a:latin typeface="Calibri"/>
              </a:rPr>
              <a:t> eintragen. Ohne Ende rechnet das System es aus.</a:t>
            </a:r>
          </a:p>
          <a:p>
            <a:pPr algn="l">
              <a:spcAft>
                <a:spcPts val="1019"/>
              </a:spcAft>
            </a:pPr>
            <a:r>
              <a:rPr sz="1700" b="0">
                <a:solidFill>
                  <a:srgbClr val="111111"/>
                </a:solidFill>
                <a:latin typeface="Calibri"/>
              </a:rPr>
              <a:t>3. Zum Schluss die Verträge über den </a:t>
            </a:r>
            <a:r>
              <a:rPr sz="1700" b="1">
                <a:solidFill>
                  <a:srgbClr val="111111"/>
                </a:solidFill>
                <a:latin typeface="Calibri"/>
              </a:rPr>
              <a:t>Sammelversand</a:t>
            </a:r>
            <a:r>
              <a:rPr sz="1700" b="0">
                <a:solidFill>
                  <a:srgbClr val="111111"/>
                </a:solidFill>
                <a:latin typeface="Calibri"/>
              </a:rPr>
              <a:t> schicken.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20640"/>
            <a:ext cx="32918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19"/>
              </a:spcAft>
            </a:pPr>
            <a:r>
              <a:rPr sz="1700" b="1">
                <a:solidFill>
                  <a:srgbClr val="1273DE"/>
                </a:solidFill>
                <a:latin typeface="Calibri"/>
              </a:rPr>
              <a:t>Jede Eingabe ist sofort gespeichert. Zwei Laptops sehen denselben Stand.</a:t>
            </a:r>
          </a:p>
        </p:txBody>
      </p:sp>
      <p:pic>
        <p:nvPicPr>
          <p:cNvPr id="10" name="Picture 9" descr="D_nach_der_schul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206195"/>
            <a:ext cx="7360920" cy="3597753"/>
          </a:xfrm>
          <a:prstGeom prst="rect">
            <a:avLst/>
          </a:prstGeom>
          <a:ln w="9525">
            <a:solidFill>
              <a:srgbClr val="B8BCC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7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47902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19"/>
              </a:spcAft>
            </a:pPr>
            <a:r>
              <a:rPr sz="1200" b="1">
                <a:solidFill>
                  <a:srgbClr val="1273DE"/>
                </a:solidFill>
                <a:latin typeface="Calibri"/>
              </a:rPr>
              <a:t>ÜBERBLICK BEHALTEN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31520"/>
            <a:ext cx="1093622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9"/>
              </a:spcAft>
            </a:pPr>
            <a:r>
              <a:rPr sz="2850" b="1">
                <a:solidFill>
                  <a:srgbClr val="111111"/>
                </a:solidFill>
                <a:latin typeface="Calibri"/>
              </a:rPr>
              <a:t>Nach Status filtern, auch „Keine Reaktion“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435608"/>
            <a:ext cx="11128248" cy="9144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19088"/>
            <a:ext cx="61904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RheinGedeck ·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9376" y="6419088"/>
            <a:ext cx="5303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73936"/>
            <a:ext cx="32918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19"/>
              </a:spcAft>
            </a:pPr>
            <a:r>
              <a:rPr sz="1700" b="0">
                <a:solidFill>
                  <a:srgbClr val="111111"/>
                </a:solidFill>
                <a:latin typeface="Calibri"/>
              </a:rPr>
              <a:t>Oben in der Liste das Feld </a:t>
            </a:r>
            <a:r>
              <a:rPr sz="1700" b="1">
                <a:solidFill>
                  <a:srgbClr val="111111"/>
                </a:solidFill>
                <a:latin typeface="Calibri"/>
              </a:rPr>
              <a:t>Status</a:t>
            </a:r>
            <a:r>
              <a:rPr sz="1700" b="0">
                <a:solidFill>
                  <a:srgbClr val="111111"/>
                </a:solidFill>
                <a:latin typeface="Calibri"/>
              </a:rPr>
              <a:t> öffnen. Der Filter gilt in der Übersicht und nach der Schulung.</a:t>
            </a:r>
          </a:p>
          <a:p>
            <a:pPr algn="l">
              <a:spcAft>
                <a:spcPts val="1019"/>
              </a:spcAft>
            </a:pPr>
            <a:r>
              <a:rPr sz="1700" b="1">
                <a:solidFill>
                  <a:srgbClr val="111111"/>
                </a:solidFill>
                <a:latin typeface="Calibri"/>
              </a:rPr>
              <a:t>Keine Reaktion</a:t>
            </a:r>
            <a:r>
              <a:rPr sz="1700" b="0">
                <a:solidFill>
                  <a:srgbClr val="111111"/>
                </a:solidFill>
                <a:latin typeface="Calibri"/>
              </a:rPr>
              <a:t> zeigt Gebuchte, die auf die Erinnerungen nicht reagiert haben. Ihr Platz ist wieder frei.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19"/>
              </a:spcAft>
            </a:pPr>
            <a:r>
              <a:rPr sz="1700" b="1">
                <a:solidFill>
                  <a:srgbClr val="1273DE"/>
                </a:solidFill>
                <a:latin typeface="Calibri"/>
              </a:rPr>
              <a:t>Praktisch zum Nachtelefonieren vor der Schulung.</a:t>
            </a:r>
          </a:p>
        </p:txBody>
      </p:sp>
      <p:pic>
        <p:nvPicPr>
          <p:cNvPr id="10" name="Picture 9" descr="E_status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902487"/>
            <a:ext cx="7360920" cy="4205169"/>
          </a:xfrm>
          <a:prstGeom prst="rect">
            <a:avLst/>
          </a:prstGeom>
          <a:ln w="9525">
            <a:solidFill>
              <a:srgbClr val="B8BCC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7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47902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19"/>
              </a:spcAft>
            </a:pPr>
            <a:r>
              <a:rPr sz="1200" b="1">
                <a:solidFill>
                  <a:srgbClr val="1273DE"/>
                </a:solidFill>
                <a:latin typeface="Calibri"/>
              </a:rPr>
              <a:t>WENN EINE SCHULUNG VOLL 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31520"/>
            <a:ext cx="1093622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9"/>
              </a:spcAft>
            </a:pPr>
            <a:r>
              <a:rPr sz="2850" b="1">
                <a:solidFill>
                  <a:srgbClr val="111111"/>
                </a:solidFill>
                <a:latin typeface="Calibri"/>
              </a:rPr>
              <a:t>Bewerber ohne Termin auf freie Termine hinweisen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435608"/>
            <a:ext cx="11128248" cy="9144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19088"/>
            <a:ext cx="61904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RheinGedeck ·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9376" y="6419088"/>
            <a:ext cx="5303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73936"/>
            <a:ext cx="51206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170"/>
              </a:spcAft>
            </a:pPr>
            <a:r>
              <a:rPr sz="1950" b="0">
                <a:solidFill>
                  <a:srgbClr val="111111"/>
                </a:solidFill>
                <a:latin typeface="Calibri"/>
              </a:rPr>
              <a:t>1. </a:t>
            </a:r>
            <a:r>
              <a:rPr sz="1950" b="1">
                <a:solidFill>
                  <a:srgbClr val="111111"/>
                </a:solidFill>
                <a:latin typeface="Calibri"/>
              </a:rPr>
              <a:t>Statistik</a:t>
            </a:r>
            <a:r>
              <a:rPr sz="1950" b="0">
                <a:solidFill>
                  <a:srgbClr val="111111"/>
                </a:solidFill>
                <a:latin typeface="Calibri"/>
              </a:rPr>
              <a:t> öffnen, Filiale wählen, zu </a:t>
            </a:r>
            <a:r>
              <a:rPr sz="1950" b="1">
                <a:solidFill>
                  <a:srgbClr val="111111"/>
                </a:solidFill>
                <a:latin typeface="Calibri"/>
              </a:rPr>
              <a:t>„Schulungstermine“</a:t>
            </a:r>
            <a:r>
              <a:rPr sz="1950" b="0">
                <a:solidFill>
                  <a:srgbClr val="111111"/>
                </a:solidFill>
                <a:latin typeface="Calibri"/>
              </a:rPr>
              <a:t> scrollen.</a:t>
            </a:r>
          </a:p>
          <a:p>
            <a:pPr algn="l">
              <a:spcAft>
                <a:spcPts val="1170"/>
              </a:spcAft>
            </a:pPr>
            <a:r>
              <a:rPr sz="1950" b="0">
                <a:solidFill>
                  <a:srgbClr val="111111"/>
                </a:solidFill>
                <a:latin typeface="Calibri"/>
              </a:rPr>
              <a:t>2. Am vollen Termin auf die Pille </a:t>
            </a:r>
            <a:r>
              <a:rPr sz="1950" b="1">
                <a:solidFill>
                  <a:srgbClr val="111111"/>
                </a:solidFill>
                <a:latin typeface="Calibri"/>
              </a:rPr>
              <a:t>„N ohne Termin“</a:t>
            </a:r>
            <a:r>
              <a:rPr sz="1950" b="0">
                <a:solidFill>
                  <a:srgbClr val="111111"/>
                </a:solidFill>
                <a:latin typeface="Calibri"/>
              </a:rPr>
              <a:t> klicken.</a:t>
            </a:r>
          </a:p>
          <a:p>
            <a:pPr algn="l">
              <a:spcAft>
                <a:spcPts val="1170"/>
              </a:spcAft>
            </a:pPr>
            <a:r>
              <a:rPr sz="1950" b="0">
                <a:solidFill>
                  <a:srgbClr val="111111"/>
                </a:solidFill>
                <a:latin typeface="Calibri"/>
              </a:rPr>
              <a:t>3. Oben die </a:t>
            </a:r>
            <a:r>
              <a:rPr sz="1950" b="1">
                <a:solidFill>
                  <a:srgbClr val="111111"/>
                </a:solidFill>
                <a:latin typeface="Calibri"/>
              </a:rPr>
              <a:t>Anlass-Karte</a:t>
            </a:r>
            <a:r>
              <a:rPr sz="1950" b="0">
                <a:solidFill>
                  <a:srgbClr val="111111"/>
                </a:solidFill>
                <a:latin typeface="Calibri"/>
              </a:rPr>
              <a:t> lesen. Ist sie rot, gibt es keinen freien Termin: erst einen anlegen.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73936"/>
            <a:ext cx="512064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170"/>
              </a:spcAft>
            </a:pPr>
            <a:r>
              <a:rPr sz="1950" b="0">
                <a:solidFill>
                  <a:srgbClr val="111111"/>
                </a:solidFill>
                <a:latin typeface="Calibri"/>
              </a:rPr>
              <a:t>4. Empfänger prüfen, wer nicht soll: Haken raus.</a:t>
            </a:r>
          </a:p>
          <a:p>
            <a:pPr algn="l">
              <a:spcAft>
                <a:spcPts val="1170"/>
              </a:spcAft>
            </a:pPr>
            <a:r>
              <a:rPr sz="1950" b="0">
                <a:solidFill>
                  <a:srgbClr val="111111"/>
                </a:solidFill>
                <a:latin typeface="Calibri"/>
              </a:rPr>
              <a:t>5. Auf </a:t>
            </a:r>
            <a:r>
              <a:rPr sz="1950" b="1">
                <a:solidFill>
                  <a:srgbClr val="111111"/>
                </a:solidFill>
                <a:latin typeface="Calibri"/>
              </a:rPr>
              <a:t>„WhatsApp an N Personen senden“</a:t>
            </a:r>
            <a:r>
              <a:rPr sz="1950" b="0">
                <a:solidFill>
                  <a:srgbClr val="111111"/>
                </a:solidFill>
                <a:latin typeface="Calibri"/>
              </a:rPr>
              <a:t> klicken und bestätigen.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06240"/>
            <a:ext cx="512064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140"/>
              </a:spcAft>
            </a:pPr>
            <a:r>
              <a:rPr sz="1900" b="1">
                <a:solidFill>
                  <a:srgbClr val="1273DE"/>
                </a:solidFill>
                <a:latin typeface="Calibri"/>
              </a:rPr>
              <a:t>Die Bewerber buchen sich selbst in einen freien Termin.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60"/>
              </a:spcAft>
            </a:pPr>
            <a:r>
              <a:rPr sz="1600" b="0">
                <a:solidFill>
                  <a:srgbClr val="5F6368"/>
                </a:solidFill>
                <a:latin typeface="Calibri"/>
              </a:rPr>
              <a:t>Die Pille erscheint nur bei voller Platzzahl, künftigem Termin und hinterlegter Ausschreibung.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7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47902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19"/>
              </a:spcAft>
            </a:pPr>
            <a:r>
              <a:rPr sz="1200" b="1">
                <a:solidFill>
                  <a:srgbClr val="1273DE"/>
                </a:solidFill>
                <a:latin typeface="Calibri"/>
              </a:rPr>
              <a:t>GUT ZU WISSEN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31520"/>
            <a:ext cx="10936224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9"/>
              </a:spcAft>
            </a:pPr>
            <a:r>
              <a:rPr sz="2850" b="1">
                <a:solidFill>
                  <a:srgbClr val="111111"/>
                </a:solidFill>
                <a:latin typeface="Calibri"/>
              </a:rPr>
              <a:t>Regeln auf einen Blick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435608"/>
            <a:ext cx="11128248" cy="9144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19088"/>
            <a:ext cx="61904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RheinGedeck ·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9376" y="6419088"/>
            <a:ext cx="5303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30"/>
              </a:spcAft>
            </a:pPr>
            <a:r>
              <a:rPr sz="1050" b="0">
                <a:solidFill>
                  <a:srgbClr val="5F6368"/>
                </a:solidFill>
                <a:latin typeface="Calibri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10789920" cy="438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08960"/>
                <a:gridCol w="7680960"/>
              </a:tblGrid>
              <a:tr h="627017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73DE"/>
                          </a:solidFill>
                          <a:latin typeface="Calibri"/>
                        </a:rPr>
                        <a:t>Verschieben: Termine</a:t>
                      </a:r>
                    </a:p>
                  </a:txBody>
                  <a:tcPr marL="109728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Nur aktive Termine derselben Stelle, die noch nicht zu Ende sind.</a:t>
                      </a:r>
                    </a:p>
                  </a:txBody>
                  <a:tcPr marL="109728">
                    <a:solidFill>
                      <a:srgbClr val="F1F3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73DE"/>
                          </a:solidFill>
                          <a:latin typeface="Calibri"/>
                        </a:rPr>
                        <a:t>Verschieben: wer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Gebucht, registriert, bestätigt immer. Teilgenommen nur am selben Tag.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73DE"/>
                          </a:solidFill>
                          <a:latin typeface="Calibri"/>
                        </a:rPr>
                        <a:t>Verschieben: Nachricht</a:t>
                      </a:r>
                    </a:p>
                  </a:txBody>
                  <a:tcPr marL="109728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Keine. Soll die Person Bescheid wissen, bitte selbst anschreiben.</a:t>
                      </a:r>
                    </a:p>
                  </a:txBody>
                  <a:tcPr marL="109728">
                    <a:solidFill>
                      <a:srgbClr val="F1F3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73DE"/>
                          </a:solidFill>
                          <a:latin typeface="Calibri"/>
                        </a:rPr>
                        <a:t>Gruppengröße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Für kleinere Gruppen beim Termin eine kleinere Platzzahl eintragen.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73DE"/>
                          </a:solidFill>
                          <a:latin typeface="Calibri"/>
                        </a:rPr>
                        <a:t>Vertragsbeginn geleert</a:t>
                      </a:r>
                    </a:p>
                  </a:txBody>
                  <a:tcPr marL="109728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Eine offene Versand-Vormerkung wird zurückgenommen.</a:t>
                      </a:r>
                    </a:p>
                  </a:txBody>
                  <a:tcPr marL="109728">
                    <a:solidFill>
                      <a:srgbClr val="F1F3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73DE"/>
                          </a:solidFill>
                          <a:latin typeface="Calibri"/>
                        </a:rPr>
                        <a:t>Nach dem Versand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Es gelten die Daten im Vertrag. Änderung über „Vertrag neu ausstellen“.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73DE"/>
                          </a:solidFill>
                          <a:latin typeface="Calibri"/>
                        </a:rPr>
                        <a:t>Kampagne: doppelt</a:t>
                      </a:r>
                    </a:p>
                  </a:txBody>
                  <a:tcPr marL="109728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alibri"/>
                        </a:rPr>
                        <a:t>Wer in 14 Tagen schon eine Kampagne bekam, ist vorsichtshalber abgehakt.</a:t>
                      </a:r>
                    </a:p>
                  </a:txBody>
                  <a:tcPr marL="109728"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